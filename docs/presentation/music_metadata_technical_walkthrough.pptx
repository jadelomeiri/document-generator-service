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scope: this is a backend take-home implementation, focused on the core model and production-readiness. Emphasise that the core design is intentionally simple, and the polish exists to make the solution easy to run, test,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framing: this is not just CRUD; the important product questions are identity, aliases, catalogues and fair homepage selection. Then explain your engineering constraint: make it production-minded, not overengineered.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Artist is canonical. Aliases are records linked to an artist, so they do not duplicate catalogues or skew Artist of the Day. Tracks belong to the stable artist ID. Genre and ISRC are intentionally pragmatic for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modular monolith. The seams are clear: controllers translate HTTP, services hold business decisions, repositories use JPA, and PostgreSQL/Flyway handle durable data and schema. Emphasise no microservices because scope does not justify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UUIDs are less friendly in Swagger, but correct as canonical identifiers. The better future improvement is discovery/search endpoints, not replacing stable resource IDs with slugs. Also discuss Problem Details and lightweight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this slide because it shows judgement. Explain the modulo approach simply and why it avoids random unfairness and stored mutable state. Then be honest about the trade-off and production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suite now has true fast service/unit tests plus integration tests with real PostgreSQL. Then show production readiness: build, dependency upkeep, Docker, profiles, health/probes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to say this is future, not implemented. The point is to show a realistic path: same containerised app, managed Postgres, secrets, observability, image registry. Optional components only when product/scale requires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your fallback if time is running out. It gives the interviewer a clean narrative: problem, model, API, architecture, quality, trade-offs. Close by showing judgement around next improvements, not by claiming everything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269480" y="5440680"/>
            <a:ext cx="3749040" cy="0"/>
          </a:xfrm>
          <a:prstGeom prst="line">
            <a:avLst/>
          </a:prstGeom>
          <a:noFill/>
          <a:ln w="29210">
            <a:solidFill>
              <a:srgbClr val="38BDF8"/>
            </a:solidFill>
            <a:prstDash val="solid"/>
          </a:ln>
        </p:spPr>
      </p:sp>
      <p:sp>
        <p:nvSpPr>
          <p:cNvPr id="3" name="Text 1"/>
          <p:cNvSpPr/>
          <p:nvPr/>
        </p:nvSpPr>
        <p:spPr>
          <a:xfrm>
            <a:off x="685800" y="603504"/>
            <a:ext cx="5486400" cy="274320"/>
          </a:xfrm>
          <a:prstGeom prst="rect">
            <a:avLst/>
          </a:prstGeom>
          <a:noFill/>
          <a:ln/>
        </p:spPr>
        <p:txBody>
          <a:bodyPr wrap="square" rtlCol="0" anchor="ctr"/>
          <a:lstStyle/>
          <a:p>
            <a:pPr indent="0" marL="0">
              <a:buNone/>
            </a:pPr>
            <a:r>
              <a:rPr lang="en-US" sz="1000" b="1" dirty="0">
                <a:solidFill>
                  <a:srgbClr val="38BDF8"/>
                </a:solidFill>
              </a:rPr>
              <a:t>MUSIC METADATA SERVICE</a:t>
            </a:r>
            <a:endParaRPr lang="en-US" sz="1000" dirty="0"/>
          </a:p>
        </p:txBody>
      </p:sp>
      <p:sp>
        <p:nvSpPr>
          <p:cNvPr id="4" name="Text 2"/>
          <p:cNvSpPr/>
          <p:nvPr/>
        </p:nvSpPr>
        <p:spPr>
          <a:xfrm>
            <a:off x="685800" y="1207008"/>
            <a:ext cx="6492240" cy="621792"/>
          </a:xfrm>
          <a:prstGeom prst="rect">
            <a:avLst/>
          </a:prstGeom>
          <a:noFill/>
          <a:ln/>
        </p:spPr>
        <p:txBody>
          <a:bodyPr wrap="square" rtlCol="0" anchor="ctr">
            <a:normAutofit/>
          </a:bodyPr>
          <a:lstStyle/>
          <a:p>
            <a:pPr indent="0" marL="0">
              <a:buNone/>
            </a:pPr>
            <a:r>
              <a:rPr lang="en-US" sz="4000" b="1" dirty="0">
                <a:solidFill>
                  <a:srgbClr val="F8FAFC"/>
                </a:solidFill>
                <a:latin typeface="Aptos Display" pitchFamily="34" charset="0"/>
                <a:ea typeface="Aptos Display" pitchFamily="34" charset="-122"/>
                <a:cs typeface="Aptos Display" pitchFamily="34" charset="-120"/>
              </a:rPr>
              <a:t>Technical walkthrough</a:t>
            </a:r>
            <a:endParaRPr lang="en-US" sz="4000" dirty="0"/>
          </a:p>
        </p:txBody>
      </p:sp>
      <p:sp>
        <p:nvSpPr>
          <p:cNvPr id="5" name="Text 3"/>
          <p:cNvSpPr/>
          <p:nvPr/>
        </p:nvSpPr>
        <p:spPr>
          <a:xfrm>
            <a:off x="713232" y="1975104"/>
            <a:ext cx="6720840" cy="731520"/>
          </a:xfrm>
          <a:prstGeom prst="rect">
            <a:avLst/>
          </a:prstGeom>
          <a:noFill/>
          <a:ln/>
        </p:spPr>
        <p:txBody>
          <a:bodyPr wrap="square" rtlCol="0" anchor="ctr">
            <a:normAutofit/>
          </a:bodyPr>
          <a:lstStyle/>
          <a:p>
            <a:pPr indent="0" marL="0">
              <a:buNone/>
            </a:pPr>
            <a:r>
              <a:rPr lang="en-US" sz="1600" dirty="0">
                <a:solidFill>
                  <a:srgbClr val="CBD5E1"/>
                </a:solidFill>
              </a:rPr>
              <a:t>A production-minded Spring Boot take-home: stable artist identity, aliases, tracks, deterministic Artist of the Day, and a deployable foundation.</a:t>
            </a:r>
            <a:endParaRPr lang="en-US" sz="1600" dirty="0"/>
          </a:p>
        </p:txBody>
      </p:sp>
      <p:sp>
        <p:nvSpPr>
          <p:cNvPr id="6" name="Text 4"/>
          <p:cNvSpPr/>
          <p:nvPr/>
        </p:nvSpPr>
        <p:spPr>
          <a:xfrm>
            <a:off x="713232" y="3063240"/>
            <a:ext cx="2148840" cy="438912"/>
          </a:xfrm>
          <a:prstGeom prst="roundRect">
            <a:avLst/>
          </a:prstGeom>
          <a:solidFill>
            <a:srgbClr val="132B3F"/>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Java 25 + Spring Boot 4</a:t>
            </a:r>
            <a:endParaRPr lang="en-US" sz="1200" dirty="0"/>
          </a:p>
        </p:txBody>
      </p:sp>
      <p:sp>
        <p:nvSpPr>
          <p:cNvPr id="7" name="Text 5"/>
          <p:cNvSpPr/>
          <p:nvPr/>
        </p:nvSpPr>
        <p:spPr>
          <a:xfrm>
            <a:off x="3063240" y="3063240"/>
            <a:ext cx="2011680" cy="438912"/>
          </a:xfrm>
          <a:prstGeom prst="roundRect">
            <a:avLst/>
          </a:prstGeom>
          <a:solidFill>
            <a:srgbClr val="132B3F"/>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PostgreSQL + Flyway</a:t>
            </a:r>
            <a:endParaRPr lang="en-US" sz="1200" dirty="0"/>
          </a:p>
        </p:txBody>
      </p:sp>
      <p:sp>
        <p:nvSpPr>
          <p:cNvPr id="8" name="Text 6"/>
          <p:cNvSpPr/>
          <p:nvPr/>
        </p:nvSpPr>
        <p:spPr>
          <a:xfrm>
            <a:off x="5266944" y="3063240"/>
            <a:ext cx="2423160" cy="438912"/>
          </a:xfrm>
          <a:prstGeom prst="roundRect">
            <a:avLst/>
          </a:prstGeom>
          <a:solidFill>
            <a:srgbClr val="132B3F"/>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CI • Docker • Observability</a:t>
            </a:r>
            <a:endParaRPr lang="en-US" sz="1200" dirty="0"/>
          </a:p>
        </p:txBody>
      </p:sp>
      <p:sp>
        <p:nvSpPr>
          <p:cNvPr id="9" name="Text 7"/>
          <p:cNvSpPr/>
          <p:nvPr/>
        </p:nvSpPr>
        <p:spPr>
          <a:xfrm>
            <a:off x="713232" y="5669280"/>
            <a:ext cx="3840480" cy="320040"/>
          </a:xfrm>
          <a:prstGeom prst="rect">
            <a:avLst/>
          </a:prstGeom>
          <a:noFill/>
          <a:ln/>
        </p:spPr>
        <p:txBody>
          <a:bodyPr wrap="square" rtlCol="0" anchor="ctr"/>
          <a:lstStyle/>
          <a:p>
            <a:pPr indent="0" marL="0">
              <a:buNone/>
            </a:pPr>
            <a:r>
              <a:rPr lang="en-US" sz="1200" dirty="0">
                <a:solidFill>
                  <a:srgbClr val="64748B"/>
                </a:solidFill>
              </a:rPr>
              <a:t>15-minute presentation aid</a:t>
            </a:r>
            <a:endParaRPr lang="en-US" sz="1200" dirty="0"/>
          </a:p>
        </p:txBody>
      </p:sp>
      <p:sp>
        <p:nvSpPr>
          <p:cNvPr id="10" name="Text 8"/>
          <p:cNvSpPr/>
          <p:nvPr/>
        </p:nvSpPr>
        <p:spPr>
          <a:xfrm>
            <a:off x="713232" y="5989320"/>
            <a:ext cx="3291840" cy="274320"/>
          </a:xfrm>
          <a:prstGeom prst="rect">
            <a:avLst/>
          </a:prstGeom>
          <a:noFill/>
          <a:ln/>
        </p:spPr>
        <p:txBody>
          <a:bodyPr wrap="square" rtlCol="0" anchor="ctr"/>
          <a:lstStyle/>
          <a:p>
            <a:pPr indent="0" marL="0">
              <a:buNone/>
            </a:pPr>
            <a:r>
              <a:rPr lang="en-US" sz="1100" b="1" dirty="0">
                <a:solidFill>
                  <a:srgbClr val="CBD5E1"/>
                </a:solidFill>
              </a:rPr>
              <a:t>Jad El Omeiri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01 • PROBLEM FRAMING</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What I optimised for</a:t>
            </a:r>
            <a:endParaRPr lang="en-US" sz="2600" dirty="0"/>
          </a:p>
        </p:txBody>
      </p:sp>
      <p:sp>
        <p:nvSpPr>
          <p:cNvPr id="5" name="Text 3"/>
          <p:cNvSpPr/>
          <p:nvPr/>
        </p:nvSpPr>
        <p:spPr>
          <a:xfrm>
            <a:off x="685800" y="1234440"/>
            <a:ext cx="10515600" cy="566928"/>
          </a:xfrm>
          <a:prstGeom prst="rect">
            <a:avLst/>
          </a:prstGeom>
          <a:noFill/>
          <a:ln/>
        </p:spPr>
        <p:txBody>
          <a:bodyPr wrap="square" rtlCol="0" anchor="ctr">
            <a:normAutofit/>
          </a:bodyPr>
          <a:lstStyle/>
          <a:p>
            <a:pPr indent="0" marL="0">
              <a:buNone/>
            </a:pPr>
            <a:r>
              <a:rPr lang="en-US" sz="2100" b="1" dirty="0">
                <a:solidFill>
                  <a:srgbClr val="F8FAFC"/>
                </a:solidFill>
              </a:rPr>
              <a:t>A music metadata service needs stable identity first — because names, aliases and display metadata are messy.</a:t>
            </a:r>
            <a:endParaRPr lang="en-US" sz="2100" dirty="0"/>
          </a:p>
        </p:txBody>
      </p:sp>
      <p:sp>
        <p:nvSpPr>
          <p:cNvPr id="6" name="Shape 4"/>
          <p:cNvSpPr/>
          <p:nvPr/>
        </p:nvSpPr>
        <p:spPr>
          <a:xfrm>
            <a:off x="914400" y="2743200"/>
            <a:ext cx="9875520" cy="0"/>
          </a:xfrm>
          <a:prstGeom prst="line">
            <a:avLst/>
          </a:prstGeom>
          <a:noFill/>
          <a:ln w="25400">
            <a:solidFill>
              <a:srgbClr val="334155"/>
            </a:solidFill>
            <a:prstDash val="solid"/>
          </a:ln>
        </p:spPr>
      </p:sp>
      <p:sp>
        <p:nvSpPr>
          <p:cNvPr id="7" name="Shape 5"/>
          <p:cNvSpPr/>
          <p:nvPr/>
        </p:nvSpPr>
        <p:spPr>
          <a:xfrm>
            <a:off x="960120" y="2743200"/>
            <a:ext cx="2926080" cy="0"/>
          </a:xfrm>
          <a:prstGeom prst="line">
            <a:avLst/>
          </a:prstGeom>
          <a:noFill/>
          <a:ln w="25400">
            <a:solidFill>
              <a:srgbClr val="38BDF8"/>
            </a:solidFill>
            <a:prstDash val="solid"/>
            <a:headEnd type="none"/>
            <a:tailEnd type="triangle"/>
          </a:ln>
        </p:spPr>
      </p:sp>
      <p:sp>
        <p:nvSpPr>
          <p:cNvPr id="8" name="Shape 6"/>
          <p:cNvSpPr/>
          <p:nvPr/>
        </p:nvSpPr>
        <p:spPr>
          <a:xfrm>
            <a:off x="4160520" y="2743200"/>
            <a:ext cx="2926080" cy="0"/>
          </a:xfrm>
          <a:prstGeom prst="line">
            <a:avLst/>
          </a:prstGeom>
          <a:noFill/>
          <a:ln w="25400">
            <a:solidFill>
              <a:srgbClr val="22C55E"/>
            </a:solidFill>
            <a:prstDash val="solid"/>
            <a:headEnd type="none"/>
            <a:tailEnd type="triangle"/>
          </a:ln>
        </p:spPr>
      </p:sp>
      <p:sp>
        <p:nvSpPr>
          <p:cNvPr id="9" name="Shape 7"/>
          <p:cNvSpPr/>
          <p:nvPr/>
        </p:nvSpPr>
        <p:spPr>
          <a:xfrm>
            <a:off x="7360920" y="2743200"/>
            <a:ext cx="2926080" cy="0"/>
          </a:xfrm>
          <a:prstGeom prst="line">
            <a:avLst/>
          </a:prstGeom>
          <a:noFill/>
          <a:ln w="25400">
            <a:solidFill>
              <a:srgbClr val="A78BFA"/>
            </a:solidFill>
            <a:prstDash val="solid"/>
            <a:headEnd type="none"/>
            <a:tailEnd type="triangle"/>
          </a:ln>
        </p:spPr>
      </p:sp>
      <p:sp>
        <p:nvSpPr>
          <p:cNvPr id="10" name="Text 8"/>
          <p:cNvSpPr/>
          <p:nvPr/>
        </p:nvSpPr>
        <p:spPr>
          <a:xfrm>
            <a:off x="777240" y="2148840"/>
            <a:ext cx="2514600" cy="914400"/>
          </a:xfrm>
          <a:prstGeom prst="roundRect">
            <a:avLst/>
          </a:prstGeom>
          <a:solidFill>
            <a:srgbClr val="16253A"/>
          </a:solidFill>
          <a:ln w="12700">
            <a:solidFill>
              <a:srgbClr val="38BDF8"/>
            </a:solidFill>
          </a:ln>
        </p:spPr>
        <p:txBody>
          <a:bodyPr wrap="square" lIns="1524" tIns="1524" rIns="1524" bIns="1524" rtlCol="0" anchor="ctr">
            <a:normAutofit/>
          </a:bodyPr>
          <a:lstStyle/>
          <a:p>
            <a:pPr algn="ctr" indent="0" marL="0">
              <a:buNone/>
            </a:pPr>
            <a:r>
              <a:rPr lang="en-US" sz="1400" b="1" dirty="0">
                <a:solidFill>
                  <a:srgbClr val="F8FAFC"/>
                </a:solidFill>
                <a:latin typeface="Aptos" pitchFamily="34" charset="0"/>
                <a:ea typeface="Aptos" pitchFamily="34" charset="-122"/>
                <a:cs typeface="Aptos" pitchFamily="34" charset="-120"/>
              </a:rPr>
              <a:t>Stable identity</a:t>
            </a:r>
            <a:endParaRPr lang="en-US" sz="1400" dirty="0"/>
          </a:p>
          <a:p>
            <a:pPr algn="ctr" indent="0" marL="0">
              <a:buNone/>
            </a:pPr>
            <a:r>
              <a:rPr lang="en-US" sz="1400" b="1" dirty="0">
                <a:solidFill>
                  <a:srgbClr val="F8FAFC"/>
                </a:solidFill>
                <a:latin typeface="Aptos" pitchFamily="34" charset="0"/>
                <a:ea typeface="Aptos" pitchFamily="34" charset="-122"/>
                <a:cs typeface="Aptos" pitchFamily="34" charset="-120"/>
              </a:rPr>
              <a:t>UUIDs + canonical artists</a:t>
            </a:r>
            <a:endParaRPr lang="en-US" sz="1400" dirty="0"/>
          </a:p>
        </p:txBody>
      </p:sp>
      <p:sp>
        <p:nvSpPr>
          <p:cNvPr id="11" name="Text 9"/>
          <p:cNvSpPr/>
          <p:nvPr/>
        </p:nvSpPr>
        <p:spPr>
          <a:xfrm>
            <a:off x="3749040" y="2148840"/>
            <a:ext cx="2697480" cy="914400"/>
          </a:xfrm>
          <a:prstGeom prst="roundRect">
            <a:avLst/>
          </a:prstGeom>
          <a:solidFill>
            <a:srgbClr val="16253A"/>
          </a:solidFill>
          <a:ln w="12700">
            <a:solidFill>
              <a:srgbClr val="22C55E"/>
            </a:solidFill>
          </a:ln>
        </p:spPr>
        <p:txBody>
          <a:bodyPr wrap="square" lIns="1524" tIns="1524" rIns="1524" bIns="1524" rtlCol="0" anchor="ctr">
            <a:normAutofit/>
          </a:bodyPr>
          <a:lstStyle/>
          <a:p>
            <a:pPr algn="ctr" indent="0" marL="0">
              <a:buNone/>
            </a:pPr>
            <a:r>
              <a:rPr lang="en-US" sz="1400" b="1" dirty="0">
                <a:solidFill>
                  <a:srgbClr val="F8FAFC"/>
                </a:solidFill>
                <a:latin typeface="Aptos" pitchFamily="34" charset="0"/>
                <a:ea typeface="Aptos" pitchFamily="34" charset="-122"/>
                <a:cs typeface="Aptos" pitchFamily="34" charset="-120"/>
              </a:rPr>
              <a:t>Realistic metadata</a:t>
            </a:r>
            <a:endParaRPr lang="en-US" sz="1400" dirty="0"/>
          </a:p>
          <a:p>
            <a:pPr algn="ctr" indent="0" marL="0">
              <a:buNone/>
            </a:pPr>
            <a:r>
              <a:rPr lang="en-US" sz="1400" b="1" dirty="0">
                <a:solidFill>
                  <a:srgbClr val="F8FAFC"/>
                </a:solidFill>
                <a:latin typeface="Aptos" pitchFamily="34" charset="0"/>
                <a:ea typeface="Aptos" pitchFamily="34" charset="-122"/>
                <a:cs typeface="Aptos" pitchFamily="34" charset="-120"/>
              </a:rPr>
              <a:t>Aliases + optional track fields</a:t>
            </a:r>
            <a:endParaRPr lang="en-US" sz="1400" dirty="0"/>
          </a:p>
        </p:txBody>
      </p:sp>
      <p:sp>
        <p:nvSpPr>
          <p:cNvPr id="12" name="Text 10"/>
          <p:cNvSpPr/>
          <p:nvPr/>
        </p:nvSpPr>
        <p:spPr>
          <a:xfrm>
            <a:off x="6995160" y="2148840"/>
            <a:ext cx="2788920" cy="914400"/>
          </a:xfrm>
          <a:prstGeom prst="roundRect">
            <a:avLst/>
          </a:prstGeom>
          <a:solidFill>
            <a:srgbClr val="16253A"/>
          </a:solidFill>
          <a:ln w="12700">
            <a:solidFill>
              <a:srgbClr val="A78BFA"/>
            </a:solidFill>
          </a:ln>
        </p:spPr>
        <p:txBody>
          <a:bodyPr wrap="square" lIns="1524" tIns="1524" rIns="1524" bIns="1524" rtlCol="0" anchor="ctr">
            <a:normAutofit/>
          </a:bodyPr>
          <a:lstStyle/>
          <a:p>
            <a:pPr algn="ctr" indent="0" marL="0">
              <a:buNone/>
            </a:pPr>
            <a:r>
              <a:rPr lang="en-US" sz="1400" b="1" dirty="0">
                <a:solidFill>
                  <a:srgbClr val="F8FAFC"/>
                </a:solidFill>
                <a:latin typeface="Aptos" pitchFamily="34" charset="0"/>
                <a:ea typeface="Aptos" pitchFamily="34" charset="-122"/>
                <a:cs typeface="Aptos" pitchFamily="34" charset="-120"/>
              </a:rPr>
              <a:t>Production-minded</a:t>
            </a:r>
            <a:endParaRPr lang="en-US" sz="1400" dirty="0"/>
          </a:p>
          <a:p>
            <a:pPr algn="ctr" indent="0" marL="0">
              <a:buNone/>
            </a:pPr>
            <a:r>
              <a:rPr lang="en-US" sz="1400" b="1" dirty="0">
                <a:solidFill>
                  <a:srgbClr val="F8FAFC"/>
                </a:solidFill>
                <a:latin typeface="Aptos" pitchFamily="34" charset="0"/>
                <a:ea typeface="Aptos" pitchFamily="34" charset="-122"/>
                <a:cs typeface="Aptos" pitchFamily="34" charset="-120"/>
              </a:rPr>
              <a:t>Tests, CI, Docker, observability</a:t>
            </a:r>
            <a:endParaRPr lang="en-US" sz="1400" dirty="0"/>
          </a:p>
        </p:txBody>
      </p:sp>
      <p:sp>
        <p:nvSpPr>
          <p:cNvPr id="13" name="Text 11"/>
          <p:cNvSpPr/>
          <p:nvPr/>
        </p:nvSpPr>
        <p:spPr>
          <a:xfrm>
            <a:off x="914400" y="3822192"/>
            <a:ext cx="2240280" cy="502920"/>
          </a:xfrm>
          <a:prstGeom prst="roundRect">
            <a:avLst/>
          </a:prstGeom>
          <a:solidFill>
            <a:srgbClr val="151C2E"/>
          </a:solidFill>
          <a:ln w="12700">
            <a:solidFill>
              <a:srgbClr val="334155"/>
            </a:solidFill>
          </a:ln>
        </p:spPr>
        <p:txBody>
          <a:bodyPr wrap="square" lIns="1524" tIns="1524" rIns="1524" bIns="1524" rtlCol="0" anchor="ctr">
            <a:normAutofit/>
          </a:bodyPr>
          <a:lstStyle/>
          <a:p>
            <a:pPr algn="ctr" indent="0" marL="0">
              <a:buNone/>
            </a:pPr>
            <a:r>
              <a:rPr lang="en-US" sz="1200" dirty="0">
                <a:solidFill>
                  <a:srgbClr val="CBD5E1"/>
                </a:solidFill>
                <a:latin typeface="Aptos" pitchFamily="34" charset="0"/>
                <a:ea typeface="Aptos" pitchFamily="34" charset="-122"/>
                <a:cs typeface="Aptos" pitchFamily="34" charset="-120"/>
              </a:rPr>
              <a:t>Avoid over-fitting the task</a:t>
            </a:r>
            <a:endParaRPr lang="en-US" sz="1200" dirty="0"/>
          </a:p>
        </p:txBody>
      </p:sp>
      <p:sp>
        <p:nvSpPr>
          <p:cNvPr id="14" name="Text 12"/>
          <p:cNvSpPr/>
          <p:nvPr/>
        </p:nvSpPr>
        <p:spPr>
          <a:xfrm>
            <a:off x="4160520" y="3822192"/>
            <a:ext cx="2057400" cy="502920"/>
          </a:xfrm>
          <a:prstGeom prst="roundRect">
            <a:avLst/>
          </a:prstGeom>
          <a:solidFill>
            <a:srgbClr val="151C2E"/>
          </a:solidFill>
          <a:ln w="12700">
            <a:solidFill>
              <a:srgbClr val="334155"/>
            </a:solidFill>
          </a:ln>
        </p:spPr>
        <p:txBody>
          <a:bodyPr wrap="square" lIns="1524" tIns="1524" rIns="1524" bIns="1524" rtlCol="0" anchor="ctr">
            <a:normAutofit/>
          </a:bodyPr>
          <a:lstStyle/>
          <a:p>
            <a:pPr algn="ctr" indent="0" marL="0">
              <a:buNone/>
            </a:pPr>
            <a:r>
              <a:rPr lang="en-US" sz="1200" dirty="0">
                <a:solidFill>
                  <a:srgbClr val="CBD5E1"/>
                </a:solidFill>
                <a:latin typeface="Aptos" pitchFamily="34" charset="0"/>
                <a:ea typeface="Aptos" pitchFamily="34" charset="-122"/>
                <a:cs typeface="Aptos" pitchFamily="34" charset="-120"/>
              </a:rPr>
              <a:t>Keep review path clear</a:t>
            </a:r>
            <a:endParaRPr lang="en-US" sz="1200" dirty="0"/>
          </a:p>
        </p:txBody>
      </p:sp>
      <p:sp>
        <p:nvSpPr>
          <p:cNvPr id="15" name="Text 13"/>
          <p:cNvSpPr/>
          <p:nvPr/>
        </p:nvSpPr>
        <p:spPr>
          <a:xfrm>
            <a:off x="7269480" y="3822192"/>
            <a:ext cx="2286000" cy="502920"/>
          </a:xfrm>
          <a:prstGeom prst="roundRect">
            <a:avLst/>
          </a:prstGeom>
          <a:solidFill>
            <a:srgbClr val="151C2E"/>
          </a:solidFill>
          <a:ln w="12700">
            <a:solidFill>
              <a:srgbClr val="334155"/>
            </a:solidFill>
          </a:ln>
        </p:spPr>
        <p:txBody>
          <a:bodyPr wrap="square" lIns="1524" tIns="1524" rIns="1524" bIns="1524" rtlCol="0" anchor="ctr">
            <a:normAutofit/>
          </a:bodyPr>
          <a:lstStyle/>
          <a:p>
            <a:pPr algn="ctr" indent="0" marL="0">
              <a:buNone/>
            </a:pPr>
            <a:r>
              <a:rPr lang="en-US" sz="1200" dirty="0">
                <a:solidFill>
                  <a:srgbClr val="CBD5E1"/>
                </a:solidFill>
                <a:latin typeface="Aptos" pitchFamily="34" charset="0"/>
                <a:ea typeface="Aptos" pitchFamily="34" charset="-122"/>
                <a:cs typeface="Aptos" pitchFamily="34" charset="-120"/>
              </a:rPr>
              <a:t>Document what comes next</a:t>
            </a:r>
            <a:endParaRPr lang="en-US" sz="1200" dirty="0"/>
          </a:p>
        </p:txBody>
      </p:sp>
      <p:sp>
        <p:nvSpPr>
          <p:cNvPr id="16" name="Text 14"/>
          <p:cNvSpPr/>
          <p:nvPr/>
        </p:nvSpPr>
        <p:spPr>
          <a:xfrm>
            <a:off x="914400" y="5166360"/>
            <a:ext cx="9692640" cy="438912"/>
          </a:xfrm>
          <a:prstGeom prst="rect">
            <a:avLst/>
          </a:prstGeom>
          <a:noFill/>
          <a:ln/>
        </p:spPr>
        <p:txBody>
          <a:bodyPr wrap="square" rtlCol="0" anchor="ctr">
            <a:normAutofit/>
          </a:bodyPr>
          <a:lstStyle/>
          <a:p>
            <a:pPr indent="0" marL="0">
              <a:buNone/>
            </a:pPr>
            <a:r>
              <a:rPr lang="en-US" sz="1500" b="1" dirty="0">
                <a:solidFill>
                  <a:srgbClr val="F59E0B"/>
                </a:solidFill>
              </a:rPr>
              <a:t>Key guardrail: build enough production foundation to be credible, but do not turn a take-home into a platform rewrite.</a:t>
            </a:r>
            <a:endParaRPr lang="en-US" sz="1500" dirty="0"/>
          </a:p>
        </p:txBody>
      </p:sp>
      <p:sp>
        <p:nvSpPr>
          <p:cNvPr id="17" name="Text 15"/>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18" name="Text 16"/>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02 • MODEL</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Domain model: stable identity, messy names</a:t>
            </a:r>
            <a:endParaRPr lang="en-US" sz="2600" dirty="0"/>
          </a:p>
        </p:txBody>
      </p:sp>
      <p:sp>
        <p:nvSpPr>
          <p:cNvPr id="5" name="Text 3"/>
          <p:cNvSpPr/>
          <p:nvPr/>
        </p:nvSpPr>
        <p:spPr>
          <a:xfrm>
            <a:off x="914400" y="2148840"/>
            <a:ext cx="2194560" cy="960120"/>
          </a:xfrm>
          <a:prstGeom prst="roundRect">
            <a:avLst/>
          </a:prstGeom>
          <a:solidFill>
            <a:srgbClr val="16253A"/>
          </a:solidFill>
          <a:ln w="12700">
            <a:solidFill>
              <a:srgbClr val="38BDF8"/>
            </a:solidFill>
          </a:ln>
        </p:spPr>
        <p:txBody>
          <a:bodyPr wrap="square" lIns="1524" tIns="1524" rIns="1524" bIns="1524" rtlCol="0" anchor="ctr">
            <a:normAutofit/>
          </a:bodyPr>
          <a:lstStyle/>
          <a:p>
            <a:pPr algn="ctr" indent="0" marL="0">
              <a:buNone/>
            </a:pPr>
            <a:r>
              <a:rPr lang="en-US" sz="1300" b="1" dirty="0">
                <a:solidFill>
                  <a:srgbClr val="F8FAFC"/>
                </a:solidFill>
                <a:latin typeface="Aptos" pitchFamily="34" charset="0"/>
                <a:ea typeface="Aptos" pitchFamily="34" charset="-122"/>
                <a:cs typeface="Aptos" pitchFamily="34" charset="-120"/>
              </a:rPr>
              <a:t>Artist</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stable UUID identity</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primaryName</a:t>
            </a:r>
            <a:endParaRPr lang="en-US" sz="1300" dirty="0"/>
          </a:p>
        </p:txBody>
      </p:sp>
      <p:sp>
        <p:nvSpPr>
          <p:cNvPr id="6" name="Text 4"/>
          <p:cNvSpPr/>
          <p:nvPr/>
        </p:nvSpPr>
        <p:spPr>
          <a:xfrm>
            <a:off x="4709160" y="1600200"/>
            <a:ext cx="2377440" cy="960120"/>
          </a:xfrm>
          <a:prstGeom prst="roundRect">
            <a:avLst/>
          </a:prstGeom>
          <a:solidFill>
            <a:srgbClr val="1A2A23"/>
          </a:solidFill>
          <a:ln w="12700">
            <a:solidFill>
              <a:srgbClr val="22C55E"/>
            </a:solidFill>
          </a:ln>
        </p:spPr>
        <p:txBody>
          <a:bodyPr wrap="square" lIns="1524" tIns="1524" rIns="1524" bIns="1524" rtlCol="0" anchor="ctr">
            <a:normAutofit/>
          </a:bodyPr>
          <a:lstStyle/>
          <a:p>
            <a:pPr algn="ctr" indent="0" marL="0">
              <a:buNone/>
            </a:pPr>
            <a:r>
              <a:rPr lang="en-US" sz="1300" b="1" dirty="0">
                <a:solidFill>
                  <a:srgbClr val="F8FAFC"/>
                </a:solidFill>
                <a:latin typeface="Aptos" pitchFamily="34" charset="0"/>
                <a:ea typeface="Aptos" pitchFamily="34" charset="-122"/>
                <a:cs typeface="Aptos" pitchFamily="34" charset="-120"/>
              </a:rPr>
              <a:t>ArtistAlias</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alternate names</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not separate artists</a:t>
            </a:r>
            <a:endParaRPr lang="en-US" sz="1300" dirty="0"/>
          </a:p>
        </p:txBody>
      </p:sp>
      <p:sp>
        <p:nvSpPr>
          <p:cNvPr id="7" name="Text 5"/>
          <p:cNvSpPr/>
          <p:nvPr/>
        </p:nvSpPr>
        <p:spPr>
          <a:xfrm>
            <a:off x="4709160" y="3520440"/>
            <a:ext cx="2377440" cy="96012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300" b="1" dirty="0">
                <a:solidFill>
                  <a:srgbClr val="F8FAFC"/>
                </a:solidFill>
                <a:latin typeface="Aptos" pitchFamily="34" charset="0"/>
                <a:ea typeface="Aptos" pitchFamily="34" charset="-122"/>
                <a:cs typeface="Aptos" pitchFamily="34" charset="-120"/>
              </a:rPr>
              <a:t>Track</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title • genre • length</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optional ISRC</a:t>
            </a:r>
            <a:endParaRPr lang="en-US" sz="1300" dirty="0"/>
          </a:p>
        </p:txBody>
      </p:sp>
      <p:sp>
        <p:nvSpPr>
          <p:cNvPr id="8" name="Text 6"/>
          <p:cNvSpPr/>
          <p:nvPr/>
        </p:nvSpPr>
        <p:spPr>
          <a:xfrm>
            <a:off x="8595360" y="2148840"/>
            <a:ext cx="2331720" cy="960120"/>
          </a:xfrm>
          <a:prstGeom prst="roundRect">
            <a:avLst/>
          </a:prstGeom>
          <a:solidFill>
            <a:srgbClr val="231C35"/>
          </a:solidFill>
          <a:ln w="12700">
            <a:solidFill>
              <a:srgbClr val="A78BFA"/>
            </a:solidFill>
          </a:ln>
        </p:spPr>
        <p:txBody>
          <a:bodyPr wrap="square" lIns="1524" tIns="1524" rIns="1524" bIns="1524" rtlCol="0" anchor="ctr">
            <a:normAutofit/>
          </a:bodyPr>
          <a:lstStyle/>
          <a:p>
            <a:pPr algn="ctr" indent="0" marL="0">
              <a:buNone/>
            </a:pPr>
            <a:r>
              <a:rPr lang="en-US" sz="1300" b="1" dirty="0">
                <a:solidFill>
                  <a:srgbClr val="F8FAFC"/>
                </a:solidFill>
                <a:latin typeface="Aptos" pitchFamily="34" charset="0"/>
                <a:ea typeface="Aptos" pitchFamily="34" charset="-122"/>
                <a:cs typeface="Aptos" pitchFamily="34" charset="-120"/>
              </a:rPr>
              <a:t>Artist of the Day</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canonical artists only</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UTC daily rotation</a:t>
            </a:r>
            <a:endParaRPr lang="en-US" sz="1300" dirty="0"/>
          </a:p>
        </p:txBody>
      </p:sp>
      <p:sp>
        <p:nvSpPr>
          <p:cNvPr id="9" name="Shape 7"/>
          <p:cNvSpPr/>
          <p:nvPr/>
        </p:nvSpPr>
        <p:spPr>
          <a:xfrm>
            <a:off x="3154680" y="2441448"/>
            <a:ext cx="1463040" cy="-365760"/>
          </a:xfrm>
          <a:prstGeom prst="line">
            <a:avLst/>
          </a:prstGeom>
          <a:noFill/>
          <a:ln w="20320">
            <a:solidFill>
              <a:srgbClr val="22C55E"/>
            </a:solidFill>
            <a:prstDash val="solid"/>
            <a:headEnd type="none"/>
            <a:tailEnd type="triangle"/>
          </a:ln>
        </p:spPr>
      </p:sp>
      <p:sp>
        <p:nvSpPr>
          <p:cNvPr id="10" name="Shape 8"/>
          <p:cNvSpPr/>
          <p:nvPr/>
        </p:nvSpPr>
        <p:spPr>
          <a:xfrm>
            <a:off x="3154680" y="2761488"/>
            <a:ext cx="1463040" cy="1097280"/>
          </a:xfrm>
          <a:prstGeom prst="line">
            <a:avLst/>
          </a:prstGeom>
          <a:noFill/>
          <a:ln w="20320">
            <a:solidFill>
              <a:srgbClr val="F59E0B"/>
            </a:solidFill>
            <a:prstDash val="solid"/>
            <a:headEnd type="none"/>
            <a:tailEnd type="triangle"/>
          </a:ln>
        </p:spPr>
      </p:sp>
      <p:sp>
        <p:nvSpPr>
          <p:cNvPr id="11" name="Shape 9"/>
          <p:cNvSpPr/>
          <p:nvPr/>
        </p:nvSpPr>
        <p:spPr>
          <a:xfrm>
            <a:off x="7178040" y="2670048"/>
            <a:ext cx="1325880" cy="0"/>
          </a:xfrm>
          <a:prstGeom prst="line">
            <a:avLst/>
          </a:prstGeom>
          <a:noFill/>
          <a:ln w="20320">
            <a:solidFill>
              <a:srgbClr val="A78BFA"/>
            </a:solidFill>
            <a:prstDash val="solid"/>
            <a:headEnd type="none"/>
            <a:tailEnd type="triangle"/>
          </a:ln>
        </p:spPr>
      </p:sp>
      <p:sp>
        <p:nvSpPr>
          <p:cNvPr id="12" name="Text 10"/>
          <p:cNvSpPr/>
          <p:nvPr/>
        </p:nvSpPr>
        <p:spPr>
          <a:xfrm>
            <a:off x="3493008" y="1975104"/>
            <a:ext cx="868680" cy="201168"/>
          </a:xfrm>
          <a:prstGeom prst="rect">
            <a:avLst/>
          </a:prstGeom>
          <a:noFill/>
          <a:ln/>
        </p:spPr>
        <p:txBody>
          <a:bodyPr wrap="square" rtlCol="0" anchor="ctr">
            <a:normAutofit/>
          </a:bodyPr>
          <a:lstStyle/>
          <a:p>
            <a:pPr indent="0" marL="0">
              <a:buNone/>
            </a:pPr>
            <a:r>
              <a:rPr lang="en-US" sz="850" b="1" dirty="0">
                <a:solidFill>
                  <a:srgbClr val="22C55E"/>
                </a:solidFill>
                <a:latin typeface="Aptos" pitchFamily="34" charset="0"/>
                <a:ea typeface="Aptos" pitchFamily="34" charset="-122"/>
                <a:cs typeface="Aptos" pitchFamily="34" charset="-120"/>
              </a:rPr>
              <a:t>1-to-many</a:t>
            </a:r>
            <a:endParaRPr lang="en-US" sz="850" dirty="0"/>
          </a:p>
        </p:txBody>
      </p:sp>
      <p:sp>
        <p:nvSpPr>
          <p:cNvPr id="13" name="Text 11"/>
          <p:cNvSpPr/>
          <p:nvPr/>
        </p:nvSpPr>
        <p:spPr>
          <a:xfrm>
            <a:off x="2926080" y="4251960"/>
            <a:ext cx="868680" cy="201168"/>
          </a:xfrm>
          <a:prstGeom prst="rect">
            <a:avLst/>
          </a:prstGeom>
          <a:noFill/>
          <a:ln/>
        </p:spPr>
        <p:txBody>
          <a:bodyPr wrap="square" rtlCol="0" anchor="ctr">
            <a:normAutofit/>
          </a:bodyPr>
          <a:lstStyle/>
          <a:p>
            <a:pPr indent="0" marL="0">
              <a:buNone/>
            </a:pPr>
            <a:r>
              <a:rPr lang="en-US" sz="850" b="1" dirty="0">
                <a:solidFill>
                  <a:srgbClr val="F59E0B"/>
                </a:solidFill>
                <a:latin typeface="Aptos" pitchFamily="34" charset="0"/>
                <a:ea typeface="Aptos" pitchFamily="34" charset="-122"/>
                <a:cs typeface="Aptos" pitchFamily="34" charset="-120"/>
              </a:rPr>
              <a:t>1-to-many</a:t>
            </a:r>
            <a:endParaRPr lang="en-US" sz="850" dirty="0"/>
          </a:p>
        </p:txBody>
      </p:sp>
      <p:sp>
        <p:nvSpPr>
          <p:cNvPr id="14" name="Text 12"/>
          <p:cNvSpPr/>
          <p:nvPr/>
        </p:nvSpPr>
        <p:spPr>
          <a:xfrm>
            <a:off x="7452360" y="2432304"/>
            <a:ext cx="1005840" cy="201168"/>
          </a:xfrm>
          <a:prstGeom prst="rect">
            <a:avLst/>
          </a:prstGeom>
          <a:noFill/>
          <a:ln/>
        </p:spPr>
        <p:txBody>
          <a:bodyPr wrap="square" rtlCol="0" anchor="ctr">
            <a:normAutofit/>
          </a:bodyPr>
          <a:lstStyle/>
          <a:p>
            <a:pPr indent="0" marL="0">
              <a:buNone/>
            </a:pPr>
            <a:r>
              <a:rPr lang="en-US" sz="850" b="1" dirty="0">
                <a:solidFill>
                  <a:srgbClr val="A78BFA"/>
                </a:solidFill>
                <a:latin typeface="Aptos" pitchFamily="34" charset="0"/>
                <a:ea typeface="Aptos" pitchFamily="34" charset="-122"/>
                <a:cs typeface="Aptos" pitchFamily="34" charset="-120"/>
              </a:rPr>
              <a:t>selected from</a:t>
            </a:r>
            <a:endParaRPr lang="en-US" sz="850" dirty="0"/>
          </a:p>
        </p:txBody>
      </p:sp>
      <p:sp>
        <p:nvSpPr>
          <p:cNvPr id="15" name="Text 13"/>
          <p:cNvSpPr/>
          <p:nvPr/>
        </p:nvSpPr>
        <p:spPr>
          <a:xfrm>
            <a:off x="896112" y="4800600"/>
            <a:ext cx="2194560" cy="274320"/>
          </a:xfrm>
          <a:prstGeom prst="rect">
            <a:avLst/>
          </a:prstGeom>
          <a:noFill/>
          <a:ln/>
        </p:spPr>
        <p:txBody>
          <a:bodyPr wrap="square" rtlCol="0" anchor="ctr"/>
          <a:lstStyle/>
          <a:p>
            <a:pPr indent="0" marL="0">
              <a:buNone/>
            </a:pPr>
            <a:r>
              <a:rPr lang="en-US" sz="1200" b="1" dirty="0">
                <a:solidFill>
                  <a:srgbClr val="38BDF8"/>
                </a:solidFill>
              </a:rPr>
              <a:t>Design implications</a:t>
            </a:r>
            <a:endParaRPr lang="en-US" sz="1200" dirty="0"/>
          </a:p>
        </p:txBody>
      </p:sp>
      <p:sp>
        <p:nvSpPr>
          <p:cNvPr id="16" name="Text 14"/>
          <p:cNvSpPr/>
          <p:nvPr/>
        </p:nvSpPr>
        <p:spPr>
          <a:xfrm>
            <a:off x="896112" y="5175504"/>
            <a:ext cx="10241280" cy="457200"/>
          </a:xfrm>
          <a:prstGeom prst="rect">
            <a:avLst/>
          </a:prstGeom>
          <a:noFill/>
          <a:ln/>
        </p:spPr>
        <p:txBody>
          <a:bodyPr wrap="square" rtlCol="0" anchor="ctr">
            <a:normAutofit/>
          </a:bodyPr>
          <a:lstStyle/>
          <a:p>
            <a:pPr indent="0" marL="0">
              <a:buNone/>
            </a:pPr>
            <a:r>
              <a:rPr lang="en-US" sz="1400" dirty="0">
                <a:solidFill>
                  <a:srgbClr val="CBD5E1"/>
                </a:solidFill>
              </a:rPr>
              <a:t>Aliases are metadata, not identities. Track retrieval is bounded because prolific artists can have large catalogues. Optional genre/ISRC fields are treated pragmatically rather than forcing a taxonomy too early.</a:t>
            </a:r>
            <a:endParaRPr lang="en-US" sz="1400" dirty="0"/>
          </a:p>
        </p:txBody>
      </p:sp>
      <p:sp>
        <p:nvSpPr>
          <p:cNvPr id="17" name="Text 15"/>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18" name="Text 16"/>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03 • ARCHITECTURE</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Current architecture: modular monolith with clear seams</a:t>
            </a:r>
            <a:endParaRPr lang="en-US" sz="2600" dirty="0"/>
          </a:p>
        </p:txBody>
      </p:sp>
      <p:sp>
        <p:nvSpPr>
          <p:cNvPr id="5" name="Text 3"/>
          <p:cNvSpPr/>
          <p:nvPr/>
        </p:nvSpPr>
        <p:spPr>
          <a:xfrm>
            <a:off x="685800" y="2743200"/>
            <a:ext cx="1737360" cy="594360"/>
          </a:xfrm>
          <a:prstGeom prst="roundRect">
            <a:avLst/>
          </a:prstGeom>
          <a:solidFill>
            <a:srgbClr val="132B3F"/>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Client / Swagger UI</a:t>
            </a:r>
            <a:endParaRPr lang="en-US" sz="1200" dirty="0"/>
          </a:p>
        </p:txBody>
      </p:sp>
      <p:sp>
        <p:nvSpPr>
          <p:cNvPr id="6" name="Text 4"/>
          <p:cNvSpPr/>
          <p:nvPr/>
        </p:nvSpPr>
        <p:spPr>
          <a:xfrm>
            <a:off x="2971800" y="2514600"/>
            <a:ext cx="2331720" cy="1051560"/>
          </a:xfrm>
          <a:prstGeom prst="roundRect">
            <a:avLst/>
          </a:prstGeom>
          <a:solidFill>
            <a:srgbClr val="172033"/>
          </a:solidFill>
          <a:ln w="12700">
            <a:solidFill>
              <a:srgbClr val="2563E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Spring Boot REST API</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validation • Problem Details • links</a:t>
            </a:r>
            <a:endParaRPr lang="en-US" sz="1200" dirty="0"/>
          </a:p>
        </p:txBody>
      </p:sp>
      <p:sp>
        <p:nvSpPr>
          <p:cNvPr id="7" name="Text 5"/>
          <p:cNvSpPr/>
          <p:nvPr/>
        </p:nvSpPr>
        <p:spPr>
          <a:xfrm>
            <a:off x="5897880" y="1143000"/>
            <a:ext cx="1783080" cy="1051560"/>
          </a:xfrm>
          <a:prstGeom prst="roundRect">
            <a:avLst/>
          </a:prstGeom>
          <a:solidFill>
            <a:srgbClr val="1E293B"/>
          </a:solidFill>
          <a:ln w="12700">
            <a:solidFill>
              <a:srgbClr val="334155"/>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Artist API</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Track API</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Homepage API</a:t>
            </a:r>
            <a:endParaRPr lang="en-US" sz="1200" dirty="0"/>
          </a:p>
        </p:txBody>
      </p:sp>
      <p:sp>
        <p:nvSpPr>
          <p:cNvPr id="8" name="Text 6"/>
          <p:cNvSpPr/>
          <p:nvPr/>
        </p:nvSpPr>
        <p:spPr>
          <a:xfrm>
            <a:off x="5897880" y="2743200"/>
            <a:ext cx="1783080" cy="914400"/>
          </a:xfrm>
          <a:prstGeom prst="roundRect">
            <a:avLst/>
          </a:prstGeom>
          <a:solidFill>
            <a:srgbClr val="1E293B"/>
          </a:solidFill>
          <a:ln w="12700">
            <a:solidFill>
              <a:srgbClr val="334155"/>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Services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Artist • Track • AOTD</a:t>
            </a:r>
            <a:endParaRPr lang="en-US" sz="1200" dirty="0"/>
          </a:p>
        </p:txBody>
      </p:sp>
      <p:sp>
        <p:nvSpPr>
          <p:cNvPr id="9" name="Text 7"/>
          <p:cNvSpPr/>
          <p:nvPr/>
        </p:nvSpPr>
        <p:spPr>
          <a:xfrm>
            <a:off x="5897880" y="4160520"/>
            <a:ext cx="1783080" cy="731520"/>
          </a:xfrm>
          <a:prstGeom prst="roundRect">
            <a:avLst/>
          </a:prstGeom>
          <a:solidFill>
            <a:srgbClr val="1E293B"/>
          </a:solidFill>
          <a:ln w="12700">
            <a:solidFill>
              <a:srgbClr val="334155"/>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Repositories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Spring Data JPA</a:t>
            </a:r>
            <a:endParaRPr lang="en-US" sz="1200" dirty="0"/>
          </a:p>
        </p:txBody>
      </p:sp>
      <p:sp>
        <p:nvSpPr>
          <p:cNvPr id="10" name="Text 8"/>
          <p:cNvSpPr/>
          <p:nvPr/>
        </p:nvSpPr>
        <p:spPr>
          <a:xfrm>
            <a:off x="8549640" y="3840480"/>
            <a:ext cx="1828800" cy="914400"/>
          </a:xfrm>
          <a:prstGeom prst="roundRect">
            <a:avLst/>
          </a:prstGeom>
          <a:solidFill>
            <a:srgbClr val="142C22"/>
          </a:solidFill>
          <a:ln w="12700">
            <a:solidFill>
              <a:srgbClr val="22C55E"/>
            </a:solidFill>
          </a:ln>
        </p:spPr>
        <p:txBody>
          <a:bodyPr wrap="square" lIns="1524" tIns="1524" rIns="1524" bIns="1524" rtlCol="0" anchor="ctr">
            <a:normAutofit/>
          </a:bodyPr>
          <a:lstStyle/>
          <a:p>
            <a:pPr algn="ctr" indent="0" marL="0">
              <a:buNone/>
            </a:pPr>
            <a:r>
              <a:rPr lang="en-US" sz="1300" b="1" dirty="0">
                <a:solidFill>
                  <a:srgbClr val="F8FAFC"/>
                </a:solidFill>
                <a:latin typeface="Aptos" pitchFamily="34" charset="0"/>
                <a:ea typeface="Aptos" pitchFamily="34" charset="-122"/>
                <a:cs typeface="Aptos" pitchFamily="34" charset="-120"/>
              </a:rPr>
              <a:t>PostgreSQL</a:t>
            </a:r>
            <a:endParaRPr lang="en-US" sz="1300" dirty="0"/>
          </a:p>
          <a:p>
            <a:pPr algn="ctr" indent="0" marL="0">
              <a:buNone/>
            </a:pPr>
            <a:r>
              <a:rPr lang="en-US" sz="1300" b="1" dirty="0">
                <a:solidFill>
                  <a:srgbClr val="F8FAFC"/>
                </a:solidFill>
                <a:latin typeface="Aptos" pitchFamily="34" charset="0"/>
                <a:ea typeface="Aptos" pitchFamily="34" charset="-122"/>
                <a:cs typeface="Aptos" pitchFamily="34" charset="-120"/>
              </a:rPr>
              <a:t>source of truth</a:t>
            </a:r>
            <a:endParaRPr lang="en-US" sz="1300" dirty="0"/>
          </a:p>
        </p:txBody>
      </p:sp>
      <p:sp>
        <p:nvSpPr>
          <p:cNvPr id="11" name="Text 9"/>
          <p:cNvSpPr/>
          <p:nvPr/>
        </p:nvSpPr>
        <p:spPr>
          <a:xfrm>
            <a:off x="8549640" y="5074920"/>
            <a:ext cx="1828800" cy="73152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Flyway</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schema ownership</a:t>
            </a:r>
            <a:endParaRPr lang="en-US" sz="1200" dirty="0"/>
          </a:p>
        </p:txBody>
      </p:sp>
      <p:sp>
        <p:nvSpPr>
          <p:cNvPr id="12" name="Text 10"/>
          <p:cNvSpPr/>
          <p:nvPr/>
        </p:nvSpPr>
        <p:spPr>
          <a:xfrm>
            <a:off x="8549640" y="1325880"/>
            <a:ext cx="2057400" cy="914400"/>
          </a:xfrm>
          <a:prstGeom prst="roundRect">
            <a:avLst/>
          </a:prstGeom>
          <a:solidFill>
            <a:srgbClr val="231C35"/>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Actuator + Prometheus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health • probes • metrics</a:t>
            </a:r>
            <a:endParaRPr lang="en-US" sz="1200" dirty="0"/>
          </a:p>
        </p:txBody>
      </p:sp>
      <p:sp>
        <p:nvSpPr>
          <p:cNvPr id="13" name="Shape 11"/>
          <p:cNvSpPr/>
          <p:nvPr/>
        </p:nvSpPr>
        <p:spPr>
          <a:xfrm>
            <a:off x="2450592" y="3026664"/>
            <a:ext cx="438912" cy="0"/>
          </a:xfrm>
          <a:prstGeom prst="line">
            <a:avLst/>
          </a:prstGeom>
          <a:noFill/>
          <a:ln w="19050">
            <a:solidFill>
              <a:srgbClr val="38BDF8"/>
            </a:solidFill>
            <a:prstDash val="solid"/>
            <a:headEnd type="none"/>
            <a:tailEnd type="triangle"/>
          </a:ln>
        </p:spPr>
      </p:sp>
      <p:sp>
        <p:nvSpPr>
          <p:cNvPr id="14" name="Shape 12"/>
          <p:cNvSpPr/>
          <p:nvPr/>
        </p:nvSpPr>
        <p:spPr>
          <a:xfrm>
            <a:off x="5349240" y="2971800"/>
            <a:ext cx="457200" cy="-1143000"/>
          </a:xfrm>
          <a:prstGeom prst="line">
            <a:avLst/>
          </a:prstGeom>
          <a:noFill/>
          <a:ln w="17780">
            <a:solidFill>
              <a:srgbClr val="2563EB"/>
            </a:solidFill>
            <a:prstDash val="solid"/>
            <a:headEnd type="none"/>
            <a:tailEnd type="triangle"/>
          </a:ln>
        </p:spPr>
      </p:sp>
      <p:sp>
        <p:nvSpPr>
          <p:cNvPr id="15" name="Shape 13"/>
          <p:cNvSpPr/>
          <p:nvPr/>
        </p:nvSpPr>
        <p:spPr>
          <a:xfrm>
            <a:off x="5349240" y="2971800"/>
            <a:ext cx="457200" cy="182880"/>
          </a:xfrm>
          <a:prstGeom prst="line">
            <a:avLst/>
          </a:prstGeom>
          <a:noFill/>
          <a:ln w="17780">
            <a:solidFill>
              <a:srgbClr val="2563EB"/>
            </a:solidFill>
            <a:prstDash val="solid"/>
            <a:headEnd type="none"/>
            <a:tailEnd type="triangle"/>
          </a:ln>
        </p:spPr>
      </p:sp>
      <p:sp>
        <p:nvSpPr>
          <p:cNvPr id="16" name="Shape 14"/>
          <p:cNvSpPr/>
          <p:nvPr/>
        </p:nvSpPr>
        <p:spPr>
          <a:xfrm>
            <a:off x="5349240" y="2971800"/>
            <a:ext cx="457200" cy="1554480"/>
          </a:xfrm>
          <a:prstGeom prst="line">
            <a:avLst/>
          </a:prstGeom>
          <a:noFill/>
          <a:ln w="17780">
            <a:solidFill>
              <a:srgbClr val="2563EB"/>
            </a:solidFill>
            <a:prstDash val="solid"/>
            <a:headEnd type="none"/>
            <a:tailEnd type="triangle"/>
          </a:ln>
        </p:spPr>
      </p:sp>
      <p:sp>
        <p:nvSpPr>
          <p:cNvPr id="17" name="Shape 15"/>
          <p:cNvSpPr/>
          <p:nvPr/>
        </p:nvSpPr>
        <p:spPr>
          <a:xfrm>
            <a:off x="7726680" y="4526280"/>
            <a:ext cx="777240" cy="-45720"/>
          </a:xfrm>
          <a:prstGeom prst="line">
            <a:avLst/>
          </a:prstGeom>
          <a:noFill/>
          <a:ln w="19050">
            <a:solidFill>
              <a:srgbClr val="22C55E"/>
            </a:solidFill>
            <a:prstDash val="solid"/>
            <a:headEnd type="none"/>
            <a:tailEnd type="triangle"/>
          </a:ln>
        </p:spPr>
      </p:sp>
      <p:sp>
        <p:nvSpPr>
          <p:cNvPr id="18" name="Shape 16"/>
          <p:cNvSpPr/>
          <p:nvPr/>
        </p:nvSpPr>
        <p:spPr>
          <a:xfrm>
            <a:off x="9464040" y="5029200"/>
            <a:ext cx="0" cy="-228600"/>
          </a:xfrm>
          <a:prstGeom prst="line">
            <a:avLst/>
          </a:prstGeom>
          <a:noFill/>
          <a:ln w="16510">
            <a:solidFill>
              <a:srgbClr val="F59E0B"/>
            </a:solidFill>
            <a:prstDash val="solid"/>
            <a:headEnd type="none"/>
            <a:tailEnd type="triangle"/>
          </a:ln>
        </p:spPr>
      </p:sp>
      <p:sp>
        <p:nvSpPr>
          <p:cNvPr id="19" name="Shape 17"/>
          <p:cNvSpPr/>
          <p:nvPr/>
        </p:nvSpPr>
        <p:spPr>
          <a:xfrm>
            <a:off x="4160520" y="1143000"/>
            <a:ext cx="4251960" cy="0"/>
          </a:xfrm>
          <a:prstGeom prst="line">
            <a:avLst/>
          </a:prstGeom>
          <a:noFill/>
          <a:ln w="12700">
            <a:solidFill>
              <a:srgbClr val="64748B"/>
            </a:solidFill>
            <a:prstDash val="solid"/>
          </a:ln>
        </p:spPr>
      </p:sp>
      <p:sp>
        <p:nvSpPr>
          <p:cNvPr id="20" name="Shape 18"/>
          <p:cNvSpPr/>
          <p:nvPr/>
        </p:nvSpPr>
        <p:spPr>
          <a:xfrm>
            <a:off x="7818120" y="1755648"/>
            <a:ext cx="640080" cy="0"/>
          </a:xfrm>
          <a:prstGeom prst="line">
            <a:avLst/>
          </a:prstGeom>
          <a:noFill/>
          <a:ln w="16510">
            <a:solidFill>
              <a:srgbClr val="A78BFA"/>
            </a:solidFill>
            <a:prstDash val="solid"/>
            <a:headEnd type="none"/>
            <a:tailEnd type="triangle"/>
          </a:ln>
        </p:spPr>
      </p:sp>
      <p:sp>
        <p:nvSpPr>
          <p:cNvPr id="21" name="Text 19"/>
          <p:cNvSpPr/>
          <p:nvPr/>
        </p:nvSpPr>
        <p:spPr>
          <a:xfrm>
            <a:off x="713232" y="5349240"/>
            <a:ext cx="1920240" cy="256032"/>
          </a:xfrm>
          <a:prstGeom prst="rect">
            <a:avLst/>
          </a:prstGeom>
          <a:noFill/>
          <a:ln/>
        </p:spPr>
        <p:txBody>
          <a:bodyPr wrap="square" rtlCol="0" anchor="ctr"/>
          <a:lstStyle/>
          <a:p>
            <a:pPr indent="0" marL="0">
              <a:buNone/>
            </a:pPr>
            <a:r>
              <a:rPr lang="en-US" sz="1200" b="1" dirty="0">
                <a:solidFill>
                  <a:srgbClr val="38BDF8"/>
                </a:solidFill>
              </a:rPr>
              <a:t>Why this shape?</a:t>
            </a:r>
            <a:endParaRPr lang="en-US" sz="1200" dirty="0"/>
          </a:p>
        </p:txBody>
      </p:sp>
      <p:sp>
        <p:nvSpPr>
          <p:cNvPr id="22" name="Text 20"/>
          <p:cNvSpPr/>
          <p:nvPr/>
        </p:nvSpPr>
        <p:spPr>
          <a:xfrm>
            <a:off x="2788920" y="5340096"/>
            <a:ext cx="5303520" cy="320040"/>
          </a:xfrm>
          <a:prstGeom prst="rect">
            <a:avLst/>
          </a:prstGeom>
          <a:noFill/>
          <a:ln/>
        </p:spPr>
        <p:txBody>
          <a:bodyPr wrap="square" rtlCol="0" anchor="ctr">
            <a:normAutofit/>
          </a:bodyPr>
          <a:lstStyle/>
          <a:p>
            <a:pPr indent="0" marL="0">
              <a:buNone/>
            </a:pPr>
            <a:r>
              <a:rPr lang="en-US" sz="1300" dirty="0">
                <a:solidFill>
                  <a:srgbClr val="CBD5E1"/>
                </a:solidFill>
              </a:rPr>
              <a:t>One deployable keeps the take-home easy to reason about while preserving internal package boundaries and production seams.</a:t>
            </a:r>
            <a:endParaRPr lang="en-US" sz="1300" dirty="0"/>
          </a:p>
        </p:txBody>
      </p:sp>
      <p:sp>
        <p:nvSpPr>
          <p:cNvPr id="23" name="Text 21"/>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24" name="Text 22"/>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04 • API DESIGN</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API choices: stable resources, discoverable responses</a:t>
            </a:r>
            <a:endParaRPr lang="en-US" sz="2600" dirty="0"/>
          </a:p>
        </p:txBody>
      </p:sp>
      <p:sp>
        <p:nvSpPr>
          <p:cNvPr id="5" name="Text 3"/>
          <p:cNvSpPr/>
          <p:nvPr/>
        </p:nvSpPr>
        <p:spPr>
          <a:xfrm>
            <a:off x="777240" y="2057400"/>
            <a:ext cx="1645920" cy="777240"/>
          </a:xfrm>
          <a:prstGeom prst="roundRect">
            <a:avLst/>
          </a:prstGeom>
          <a:solidFill>
            <a:srgbClr val="172033"/>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Create artist</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POST /artists</a:t>
            </a:r>
            <a:endParaRPr lang="en-US" sz="1200" dirty="0"/>
          </a:p>
        </p:txBody>
      </p:sp>
      <p:sp>
        <p:nvSpPr>
          <p:cNvPr id="6" name="Shape 4"/>
          <p:cNvSpPr/>
          <p:nvPr/>
        </p:nvSpPr>
        <p:spPr>
          <a:xfrm>
            <a:off x="2560320" y="2450592"/>
            <a:ext cx="685800" cy="0"/>
          </a:xfrm>
          <a:prstGeom prst="line">
            <a:avLst/>
          </a:prstGeom>
          <a:noFill/>
          <a:ln w="20320">
            <a:solidFill>
              <a:srgbClr val="38BDF8"/>
            </a:solidFill>
            <a:prstDash val="solid"/>
            <a:headEnd type="none"/>
            <a:tailEnd type="triangle"/>
          </a:ln>
        </p:spPr>
      </p:sp>
      <p:sp>
        <p:nvSpPr>
          <p:cNvPr id="7" name="Text 5"/>
          <p:cNvSpPr/>
          <p:nvPr/>
        </p:nvSpPr>
        <p:spPr>
          <a:xfrm>
            <a:off x="3383280" y="2057400"/>
            <a:ext cx="1874520" cy="777240"/>
          </a:xfrm>
          <a:prstGeom prst="roundRect">
            <a:avLst/>
          </a:prstGeom>
          <a:solidFill>
            <a:srgbClr val="16253A"/>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Canonical UUID</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GET /artists/{id}</a:t>
            </a:r>
            <a:endParaRPr lang="en-US" sz="1200" dirty="0"/>
          </a:p>
        </p:txBody>
      </p:sp>
      <p:sp>
        <p:nvSpPr>
          <p:cNvPr id="8" name="Shape 6"/>
          <p:cNvSpPr/>
          <p:nvPr/>
        </p:nvSpPr>
        <p:spPr>
          <a:xfrm>
            <a:off x="5394960" y="2450592"/>
            <a:ext cx="685800" cy="0"/>
          </a:xfrm>
          <a:prstGeom prst="line">
            <a:avLst/>
          </a:prstGeom>
          <a:noFill/>
          <a:ln w="20320">
            <a:solidFill>
              <a:srgbClr val="22C55E"/>
            </a:solidFill>
            <a:prstDash val="solid"/>
            <a:headEnd type="none"/>
            <a:tailEnd type="triangle"/>
          </a:ln>
        </p:spPr>
      </p:sp>
      <p:sp>
        <p:nvSpPr>
          <p:cNvPr id="9" name="Text 7"/>
          <p:cNvSpPr/>
          <p:nvPr/>
        </p:nvSpPr>
        <p:spPr>
          <a:xfrm>
            <a:off x="6217920" y="2057400"/>
            <a:ext cx="1828800" cy="777240"/>
          </a:xfrm>
          <a:prstGeom prst="roundRect">
            <a:avLst/>
          </a:prstGeom>
          <a:solidFill>
            <a:srgbClr val="231C35"/>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Follow _links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aliases • tracks</a:t>
            </a:r>
            <a:endParaRPr lang="en-US" sz="1200" dirty="0"/>
          </a:p>
        </p:txBody>
      </p:sp>
      <p:sp>
        <p:nvSpPr>
          <p:cNvPr id="10" name="Shape 8"/>
          <p:cNvSpPr/>
          <p:nvPr/>
        </p:nvSpPr>
        <p:spPr>
          <a:xfrm>
            <a:off x="8183880" y="2450592"/>
            <a:ext cx="685800" cy="0"/>
          </a:xfrm>
          <a:prstGeom prst="line">
            <a:avLst/>
          </a:prstGeom>
          <a:noFill/>
          <a:ln w="20320">
            <a:solidFill>
              <a:srgbClr val="A78BFA"/>
            </a:solidFill>
            <a:prstDash val="solid"/>
            <a:headEnd type="none"/>
            <a:tailEnd type="triangle"/>
          </a:ln>
        </p:spPr>
      </p:sp>
      <p:sp>
        <p:nvSpPr>
          <p:cNvPr id="11" name="Text 9"/>
          <p:cNvSpPr/>
          <p:nvPr/>
        </p:nvSpPr>
        <p:spPr>
          <a:xfrm>
            <a:off x="9006840" y="2057400"/>
            <a:ext cx="1645920" cy="77724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Bounded lists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page + size</a:t>
            </a:r>
            <a:endParaRPr lang="en-US" sz="1200" dirty="0"/>
          </a:p>
        </p:txBody>
      </p:sp>
      <p:sp>
        <p:nvSpPr>
          <p:cNvPr id="12" name="Text 10"/>
          <p:cNvSpPr/>
          <p:nvPr/>
        </p:nvSpPr>
        <p:spPr>
          <a:xfrm>
            <a:off x="868680" y="3657600"/>
            <a:ext cx="3566160" cy="274320"/>
          </a:xfrm>
          <a:prstGeom prst="rect">
            <a:avLst/>
          </a:prstGeom>
          <a:noFill/>
          <a:ln/>
        </p:spPr>
        <p:txBody>
          <a:bodyPr wrap="square" rtlCol="0" anchor="ctr"/>
          <a:lstStyle/>
          <a:p>
            <a:pPr indent="0" marL="0">
              <a:buNone/>
            </a:pPr>
            <a:r>
              <a:rPr lang="en-US" sz="1400" b="1" dirty="0">
                <a:solidFill>
                  <a:srgbClr val="38BDF8"/>
                </a:solidFill>
              </a:rPr>
              <a:t>Trade-offs I chose deliberately</a:t>
            </a:r>
            <a:endParaRPr lang="en-US" sz="1400" dirty="0"/>
          </a:p>
        </p:txBody>
      </p:sp>
      <p:sp>
        <p:nvSpPr>
          <p:cNvPr id="13" name="Text 11"/>
          <p:cNvSpPr/>
          <p:nvPr/>
        </p:nvSpPr>
        <p:spPr>
          <a:xfrm>
            <a:off x="914400" y="4096512"/>
            <a:ext cx="9784080" cy="1325880"/>
          </a:xfrm>
          <a:prstGeom prst="rect">
            <a:avLst/>
          </a:prstGeom>
          <a:noFill/>
          <a:ln/>
        </p:spPr>
        <p:txBody>
          <a:bodyPr wrap="square" rtlCol="0" anchor="ctr">
            <a:normAutofit/>
          </a:bodyPr>
          <a:lstStyle/>
          <a:p>
            <a:r>
              <a:rPr lang="en-US" sz="1400" dirty="0">
                <a:solidFill>
                  <a:srgbClr val="CBD5E1"/>
                </a:solidFill>
              </a:rPr>
              <a:t>• UUIDs are canonical because artist names, aliases and track titles are not guaranteed unique or stable.</a:t>
            </a:r>
            <a:endParaRPr lang="en-US" sz="1400" dirty="0"/>
          </a:p>
          <a:p>
            <a:r>
              <a:rPr lang="en-US" sz="1400" dirty="0">
                <a:solidFill>
                  <a:srgbClr val="CBD5E1"/>
                </a:solidFill>
              </a:rPr>
              <a:t>• Lightweight HATEOAS improves exploration without turning the task into a hypermedia exercise.</a:t>
            </a:r>
            <a:endParaRPr lang="en-US" sz="1400" dirty="0"/>
          </a:p>
          <a:p>
            <a:r>
              <a:rPr lang="en-US" sz="1400" dirty="0">
                <a:solidFill>
                  <a:srgbClr val="CBD5E1"/>
                </a:solidFill>
              </a:rPr>
              <a:t>• Problem Details make failure modes consistent and client-friendly.</a:t>
            </a:r>
            <a:endParaRPr lang="en-US" sz="1400" dirty="0"/>
          </a:p>
          <a:p>
            <a:r>
              <a:rPr lang="en-US" sz="1400" dirty="0">
                <a:solidFill>
                  <a:srgbClr val="CBD5E1"/>
                </a:solidFill>
              </a:rPr>
              <a:t>• Artist/track discovery and slugs are documented as future API usability improvements, not rushed into this submission.</a:t>
            </a:r>
            <a:endParaRPr lang="en-US" sz="1400" dirty="0"/>
          </a:p>
        </p:txBody>
      </p:sp>
      <p:sp>
        <p:nvSpPr>
          <p:cNvPr id="14" name="Text 12"/>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15" name="Text 13"/>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05 • HOMEPAGE FEATURE</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Artist of the Day: deterministic, fair, testable</a:t>
            </a:r>
            <a:endParaRPr lang="en-US" sz="2600" dirty="0"/>
          </a:p>
        </p:txBody>
      </p:sp>
      <p:sp>
        <p:nvSpPr>
          <p:cNvPr id="5" name="Text 3"/>
          <p:cNvSpPr/>
          <p:nvPr/>
        </p:nvSpPr>
        <p:spPr>
          <a:xfrm>
            <a:off x="3401568" y="1481328"/>
            <a:ext cx="512064" cy="512064"/>
          </a:xfrm>
          <a:prstGeom prst="roundRect">
            <a:avLst/>
          </a:prstGeom>
          <a:solidFill>
            <a:srgbClr val="16253A"/>
          </a:solidFill>
          <a:ln w="12700">
            <a:solidFill>
              <a:srgbClr val="38BDF8"/>
            </a:solidFill>
          </a:ln>
        </p:spPr>
        <p:txBody>
          <a:bodyPr wrap="square" lIns="254" tIns="254" rIns="254" bIns="254" rtlCol="0" anchor="ctr">
            <a:normAutofit/>
          </a:bodyPr>
          <a:lstStyle/>
          <a:p>
            <a:pPr algn="ctr" indent="0" marL="0">
              <a:buNone/>
            </a:pPr>
            <a:r>
              <a:rPr lang="en-US" sz="1800" b="1" dirty="0">
                <a:solidFill>
                  <a:srgbClr val="F8FAFC"/>
                </a:solidFill>
                <a:latin typeface="Aptos" pitchFamily="34" charset="0"/>
                <a:ea typeface="Aptos" pitchFamily="34" charset="-122"/>
                <a:cs typeface="Aptos" pitchFamily="34" charset="-120"/>
              </a:rPr>
              <a:t>A</a:t>
            </a:r>
            <a:endParaRPr lang="en-US" sz="1800" dirty="0"/>
          </a:p>
        </p:txBody>
      </p:sp>
      <p:sp>
        <p:nvSpPr>
          <p:cNvPr id="6" name="Text 4"/>
          <p:cNvSpPr/>
          <p:nvPr/>
        </p:nvSpPr>
        <p:spPr>
          <a:xfrm>
            <a:off x="4749519" y="2460672"/>
            <a:ext cx="512064" cy="512064"/>
          </a:xfrm>
          <a:prstGeom prst="roundRect">
            <a:avLst/>
          </a:prstGeom>
          <a:solidFill>
            <a:srgbClr val="16253A"/>
          </a:solidFill>
          <a:ln w="12700">
            <a:solidFill>
              <a:srgbClr val="22C55E"/>
            </a:solidFill>
          </a:ln>
        </p:spPr>
        <p:txBody>
          <a:bodyPr wrap="square" lIns="254" tIns="254" rIns="254" bIns="254" rtlCol="0" anchor="ctr">
            <a:normAutofit/>
          </a:bodyPr>
          <a:lstStyle/>
          <a:p>
            <a:pPr algn="ctr" indent="0" marL="0">
              <a:buNone/>
            </a:pPr>
            <a:r>
              <a:rPr lang="en-US" sz="1800" b="1" dirty="0">
                <a:solidFill>
                  <a:srgbClr val="F8FAFC"/>
                </a:solidFill>
                <a:latin typeface="Aptos" pitchFamily="34" charset="0"/>
                <a:ea typeface="Aptos" pitchFamily="34" charset="-122"/>
                <a:cs typeface="Aptos" pitchFamily="34" charset="-120"/>
              </a:rPr>
              <a:t>B</a:t>
            </a:r>
            <a:endParaRPr lang="en-US" sz="1800" dirty="0"/>
          </a:p>
        </p:txBody>
      </p:sp>
      <p:sp>
        <p:nvSpPr>
          <p:cNvPr id="7" name="Text 5"/>
          <p:cNvSpPr/>
          <p:nvPr/>
        </p:nvSpPr>
        <p:spPr>
          <a:xfrm>
            <a:off x="4234648" y="4045284"/>
            <a:ext cx="512064" cy="512064"/>
          </a:xfrm>
          <a:prstGeom prst="roundRect">
            <a:avLst/>
          </a:prstGeom>
          <a:solidFill>
            <a:srgbClr val="16253A"/>
          </a:solidFill>
          <a:ln w="12700">
            <a:solidFill>
              <a:srgbClr val="F59E0B"/>
            </a:solidFill>
          </a:ln>
        </p:spPr>
        <p:txBody>
          <a:bodyPr wrap="square" lIns="254" tIns="254" rIns="254" bIns="254" rtlCol="0" anchor="ctr">
            <a:normAutofit/>
          </a:bodyPr>
          <a:lstStyle/>
          <a:p>
            <a:pPr algn="ctr" indent="0" marL="0">
              <a:buNone/>
            </a:pPr>
            <a:r>
              <a:rPr lang="en-US" sz="1800" b="1" dirty="0">
                <a:solidFill>
                  <a:srgbClr val="F8FAFC"/>
                </a:solidFill>
                <a:latin typeface="Aptos" pitchFamily="34" charset="0"/>
                <a:ea typeface="Aptos" pitchFamily="34" charset="-122"/>
                <a:cs typeface="Aptos" pitchFamily="34" charset="-120"/>
              </a:rPr>
              <a:t>C</a:t>
            </a:r>
            <a:endParaRPr lang="en-US" sz="1800" dirty="0"/>
          </a:p>
        </p:txBody>
      </p:sp>
      <p:sp>
        <p:nvSpPr>
          <p:cNvPr id="8" name="Text 6"/>
          <p:cNvSpPr/>
          <p:nvPr/>
        </p:nvSpPr>
        <p:spPr>
          <a:xfrm>
            <a:off x="2568488" y="4045284"/>
            <a:ext cx="512064" cy="512064"/>
          </a:xfrm>
          <a:prstGeom prst="roundRect">
            <a:avLst/>
          </a:prstGeom>
          <a:solidFill>
            <a:srgbClr val="16253A"/>
          </a:solidFill>
          <a:ln w="12700">
            <a:solidFill>
              <a:srgbClr val="A78BFA"/>
            </a:solidFill>
          </a:ln>
        </p:spPr>
        <p:txBody>
          <a:bodyPr wrap="square" lIns="254" tIns="254" rIns="254" bIns="254" rtlCol="0" anchor="ctr">
            <a:normAutofit/>
          </a:bodyPr>
          <a:lstStyle/>
          <a:p>
            <a:pPr algn="ctr" indent="0" marL="0">
              <a:buNone/>
            </a:pPr>
            <a:r>
              <a:rPr lang="en-US" sz="1800" b="1" dirty="0">
                <a:solidFill>
                  <a:srgbClr val="F8FAFC"/>
                </a:solidFill>
                <a:latin typeface="Aptos" pitchFamily="34" charset="0"/>
                <a:ea typeface="Aptos" pitchFamily="34" charset="-122"/>
                <a:cs typeface="Aptos" pitchFamily="34" charset="-120"/>
              </a:rPr>
              <a:t>D</a:t>
            </a:r>
            <a:endParaRPr lang="en-US" sz="1800" dirty="0"/>
          </a:p>
        </p:txBody>
      </p:sp>
      <p:sp>
        <p:nvSpPr>
          <p:cNvPr id="9" name="Text 7"/>
          <p:cNvSpPr/>
          <p:nvPr/>
        </p:nvSpPr>
        <p:spPr>
          <a:xfrm>
            <a:off x="2053617" y="2460672"/>
            <a:ext cx="512064" cy="512064"/>
          </a:xfrm>
          <a:prstGeom prst="roundRect">
            <a:avLst/>
          </a:prstGeom>
          <a:solidFill>
            <a:srgbClr val="16253A"/>
          </a:solidFill>
          <a:ln w="12700">
            <a:solidFill>
              <a:srgbClr val="EF4444"/>
            </a:solidFill>
          </a:ln>
        </p:spPr>
        <p:txBody>
          <a:bodyPr wrap="square" lIns="254" tIns="254" rIns="254" bIns="254" rtlCol="0" anchor="ctr">
            <a:normAutofit/>
          </a:bodyPr>
          <a:lstStyle/>
          <a:p>
            <a:pPr algn="ctr" indent="0" marL="0">
              <a:buNone/>
            </a:pPr>
            <a:r>
              <a:rPr lang="en-US" sz="1800" b="1" dirty="0">
                <a:solidFill>
                  <a:srgbClr val="F8FAFC"/>
                </a:solidFill>
                <a:latin typeface="Aptos" pitchFamily="34" charset="0"/>
                <a:ea typeface="Aptos" pitchFamily="34" charset="-122"/>
                <a:cs typeface="Aptos" pitchFamily="34" charset="-120"/>
              </a:rPr>
              <a:t>E</a:t>
            </a:r>
            <a:endParaRPr lang="en-US" sz="1800" dirty="0"/>
          </a:p>
        </p:txBody>
      </p:sp>
      <p:sp>
        <p:nvSpPr>
          <p:cNvPr id="10" name="Text 8"/>
          <p:cNvSpPr/>
          <p:nvPr/>
        </p:nvSpPr>
        <p:spPr>
          <a:xfrm>
            <a:off x="1234440" y="5303520"/>
            <a:ext cx="4526280" cy="320040"/>
          </a:xfrm>
          <a:prstGeom prst="rect">
            <a:avLst/>
          </a:prstGeom>
          <a:noFill/>
          <a:ln/>
        </p:spPr>
        <p:txBody>
          <a:bodyPr wrap="square" rtlCol="0" anchor="ctr"/>
          <a:lstStyle/>
          <a:p>
            <a:pPr algn="ctr" indent="0" marL="0">
              <a:buNone/>
            </a:pPr>
            <a:r>
              <a:rPr lang="en-US" sz="1300" b="1" dirty="0">
                <a:solidFill>
                  <a:srgbClr val="F8FAFC"/>
                </a:solidFill>
              </a:rPr>
              <a:t>selectedIndex = daysSinceEpoch % artistCount</a:t>
            </a:r>
            <a:endParaRPr lang="en-US" sz="1300" dirty="0"/>
          </a:p>
        </p:txBody>
      </p:sp>
      <p:sp>
        <p:nvSpPr>
          <p:cNvPr id="11" name="Shape 9"/>
          <p:cNvSpPr/>
          <p:nvPr/>
        </p:nvSpPr>
        <p:spPr>
          <a:xfrm>
            <a:off x="4480560" y="1828800"/>
            <a:ext cx="960120" cy="-411480"/>
          </a:xfrm>
          <a:prstGeom prst="line">
            <a:avLst/>
          </a:prstGeom>
          <a:noFill/>
          <a:ln w="17780">
            <a:solidFill>
              <a:srgbClr val="38BDF8"/>
            </a:solidFill>
            <a:prstDash val="solid"/>
            <a:headEnd type="none"/>
            <a:tailEnd type="triangle"/>
          </a:ln>
        </p:spPr>
      </p:sp>
      <p:sp>
        <p:nvSpPr>
          <p:cNvPr id="12" name="Text 10"/>
          <p:cNvSpPr/>
          <p:nvPr/>
        </p:nvSpPr>
        <p:spPr>
          <a:xfrm>
            <a:off x="5669280" y="1170432"/>
            <a:ext cx="2011680" cy="685800"/>
          </a:xfrm>
          <a:prstGeom prst="roundRect">
            <a:avLst/>
          </a:prstGeom>
          <a:solidFill>
            <a:srgbClr val="132B3F"/>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UTC Clock</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injectable for tests</a:t>
            </a:r>
            <a:endParaRPr lang="en-US" sz="1200" dirty="0"/>
          </a:p>
        </p:txBody>
      </p:sp>
      <p:sp>
        <p:nvSpPr>
          <p:cNvPr id="13" name="Text 11"/>
          <p:cNvSpPr/>
          <p:nvPr/>
        </p:nvSpPr>
        <p:spPr>
          <a:xfrm>
            <a:off x="5669280" y="2240280"/>
            <a:ext cx="2011680" cy="685800"/>
          </a:xfrm>
          <a:prstGeom prst="roundRect">
            <a:avLst/>
          </a:prstGeom>
          <a:solidFill>
            <a:srgbClr val="142C22"/>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Stable order</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createdAt, then id</a:t>
            </a:r>
            <a:endParaRPr lang="en-US" sz="1200" dirty="0"/>
          </a:p>
        </p:txBody>
      </p:sp>
      <p:sp>
        <p:nvSpPr>
          <p:cNvPr id="14" name="Text 12"/>
          <p:cNvSpPr/>
          <p:nvPr/>
        </p:nvSpPr>
        <p:spPr>
          <a:xfrm>
            <a:off x="5669280" y="3310128"/>
            <a:ext cx="2011680" cy="685800"/>
          </a:xfrm>
          <a:prstGeom prst="roundRect">
            <a:avLst/>
          </a:prstGeom>
          <a:solidFill>
            <a:srgbClr val="231C35"/>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Canonical artists only</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aliases excluded</a:t>
            </a:r>
            <a:endParaRPr lang="en-US" sz="1200" dirty="0"/>
          </a:p>
        </p:txBody>
      </p:sp>
      <p:sp>
        <p:nvSpPr>
          <p:cNvPr id="15" name="Text 13"/>
          <p:cNvSpPr/>
          <p:nvPr/>
        </p:nvSpPr>
        <p:spPr>
          <a:xfrm>
            <a:off x="5669280" y="4379976"/>
            <a:ext cx="2011680" cy="68580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Future production</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cache/precompute daily</a:t>
            </a:r>
            <a:endParaRPr lang="en-US" sz="1200" dirty="0"/>
          </a:p>
        </p:txBody>
      </p:sp>
      <p:sp>
        <p:nvSpPr>
          <p:cNvPr id="16" name="Text 14"/>
          <p:cNvSpPr/>
          <p:nvPr/>
        </p:nvSpPr>
        <p:spPr>
          <a:xfrm>
            <a:off x="8321040" y="1554480"/>
            <a:ext cx="2377440" cy="228600"/>
          </a:xfrm>
          <a:prstGeom prst="rect">
            <a:avLst/>
          </a:prstGeom>
          <a:noFill/>
          <a:ln/>
        </p:spPr>
        <p:txBody>
          <a:bodyPr wrap="square" rtlCol="0" anchor="ctr"/>
          <a:lstStyle/>
          <a:p>
            <a:pPr indent="0" marL="0">
              <a:buNone/>
            </a:pPr>
            <a:r>
              <a:rPr lang="en-US" sz="1300" b="1" dirty="0">
                <a:solidFill>
                  <a:srgbClr val="38BDF8"/>
                </a:solidFill>
              </a:rPr>
              <a:t>Why not a stored pointer?</a:t>
            </a:r>
            <a:endParaRPr lang="en-US" sz="1300" dirty="0"/>
          </a:p>
        </p:txBody>
      </p:sp>
      <p:sp>
        <p:nvSpPr>
          <p:cNvPr id="17" name="Text 15"/>
          <p:cNvSpPr/>
          <p:nvPr/>
        </p:nvSpPr>
        <p:spPr>
          <a:xfrm>
            <a:off x="8321040" y="1920240"/>
            <a:ext cx="2788920" cy="1097280"/>
          </a:xfrm>
          <a:prstGeom prst="rect">
            <a:avLst/>
          </a:prstGeom>
          <a:noFill/>
          <a:ln/>
        </p:spPr>
        <p:txBody>
          <a:bodyPr wrap="square" rtlCol="0" anchor="ctr">
            <a:normAutofit/>
          </a:bodyPr>
          <a:lstStyle/>
          <a:p>
            <a:pPr indent="0" marL="0">
              <a:buNone/>
            </a:pPr>
            <a:r>
              <a:rPr lang="en-US" sz="1300" dirty="0">
                <a:solidFill>
                  <a:srgbClr val="CBD5E1"/>
                </a:solidFill>
              </a:rPr>
              <a:t>A mutable pointer introduces scheduling, failure and multi-instance coordination questions. The modulo approach derives the result from the date, making the take-home version stateless and repeatable.</a:t>
            </a:r>
            <a:endParaRPr lang="en-US" sz="1300" dirty="0"/>
          </a:p>
        </p:txBody>
      </p:sp>
      <p:sp>
        <p:nvSpPr>
          <p:cNvPr id="18" name="Text 16"/>
          <p:cNvSpPr/>
          <p:nvPr/>
        </p:nvSpPr>
        <p:spPr>
          <a:xfrm>
            <a:off x="8321040" y="3794760"/>
            <a:ext cx="1828800" cy="228600"/>
          </a:xfrm>
          <a:prstGeom prst="rect">
            <a:avLst/>
          </a:prstGeom>
          <a:noFill/>
          <a:ln/>
        </p:spPr>
        <p:txBody>
          <a:bodyPr wrap="square" rtlCol="0" anchor="ctr"/>
          <a:lstStyle/>
          <a:p>
            <a:pPr indent="0" marL="0">
              <a:buNone/>
            </a:pPr>
            <a:r>
              <a:rPr lang="en-US" sz="1300" b="1" dirty="0">
                <a:solidFill>
                  <a:srgbClr val="F59E0B"/>
                </a:solidFill>
              </a:rPr>
              <a:t>Known trade-off</a:t>
            </a:r>
            <a:endParaRPr lang="en-US" sz="1300" dirty="0"/>
          </a:p>
        </p:txBody>
      </p:sp>
      <p:sp>
        <p:nvSpPr>
          <p:cNvPr id="19" name="Text 17"/>
          <p:cNvSpPr/>
          <p:nvPr/>
        </p:nvSpPr>
        <p:spPr>
          <a:xfrm>
            <a:off x="8321040" y="4133088"/>
            <a:ext cx="2788920" cy="822960"/>
          </a:xfrm>
          <a:prstGeom prst="rect">
            <a:avLst/>
          </a:prstGeom>
          <a:noFill/>
          <a:ln/>
        </p:spPr>
        <p:txBody>
          <a:bodyPr wrap="square" rtlCol="0" anchor="ctr">
            <a:normAutofit/>
          </a:bodyPr>
          <a:lstStyle/>
          <a:p>
            <a:pPr indent="0" marL="0">
              <a:buNone/>
            </a:pPr>
            <a:r>
              <a:rPr lang="en-US" sz="1300" dirty="0">
                <a:solidFill>
                  <a:srgbClr val="CBD5E1"/>
                </a:solidFill>
              </a:rPr>
              <a:t>If artists are added during the day, today’s selection can shift. In production I would store or cache the daily result until the next UTC day.</a:t>
            </a:r>
            <a:endParaRPr lang="en-US" sz="1300" dirty="0"/>
          </a:p>
        </p:txBody>
      </p:sp>
      <p:sp>
        <p:nvSpPr>
          <p:cNvPr id="20" name="Text 18"/>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21" name="Text 19"/>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06 • QUALITY</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Confidence: fast tests + realistic integration + operability</a:t>
            </a:r>
            <a:endParaRPr lang="en-US" sz="2600" dirty="0"/>
          </a:p>
        </p:txBody>
      </p:sp>
      <p:sp>
        <p:nvSpPr>
          <p:cNvPr id="5" name="Text 3"/>
          <p:cNvSpPr/>
          <p:nvPr/>
        </p:nvSpPr>
        <p:spPr>
          <a:xfrm>
            <a:off x="822960" y="1325880"/>
            <a:ext cx="3749040" cy="274320"/>
          </a:xfrm>
          <a:prstGeom prst="rect">
            <a:avLst/>
          </a:prstGeom>
          <a:noFill/>
          <a:ln/>
        </p:spPr>
        <p:txBody>
          <a:bodyPr wrap="square" rtlCol="0" anchor="ctr"/>
          <a:lstStyle/>
          <a:p>
            <a:pPr indent="0" marL="0">
              <a:buNone/>
            </a:pPr>
            <a:r>
              <a:rPr lang="en-US" sz="1500" b="1" dirty="0">
                <a:solidFill>
                  <a:srgbClr val="38BDF8"/>
                </a:solidFill>
              </a:rPr>
              <a:t>Testing pyramid in this repo</a:t>
            </a:r>
            <a:endParaRPr lang="en-US" sz="1500" dirty="0"/>
          </a:p>
        </p:txBody>
      </p:sp>
      <p:sp>
        <p:nvSpPr>
          <p:cNvPr id="6" name="Text 4"/>
          <p:cNvSpPr/>
          <p:nvPr/>
        </p:nvSpPr>
        <p:spPr>
          <a:xfrm>
            <a:off x="1051560" y="4114800"/>
            <a:ext cx="3749040" cy="685800"/>
          </a:xfrm>
          <a:prstGeom prst="trapezoid">
            <a:avLst/>
          </a:prstGeom>
          <a:solidFill>
            <a:srgbClr val="142C22"/>
          </a:solidFill>
          <a:ln w="15240">
            <a:solidFill>
              <a:srgbClr val="22C55E"/>
            </a:solidFill>
          </a:ln>
        </p:spPr>
        <p:txBody>
          <a:bodyPr wrap="square" rtlCol="0" anchor="ctr">
            <a:normAutofit/>
          </a:bodyPr>
          <a:lstStyle/>
          <a:p>
            <a:pPr algn="ctr" indent="0" marL="0">
              <a:buNone/>
            </a:pPr>
            <a:r>
              <a:rPr lang="en-US" sz="1200" b="1" dirty="0">
                <a:solidFill>
                  <a:srgbClr val="F8FAFC"/>
                </a:solidFill>
              </a:rPr>
              <a:t>Unit/service tests</a:t>
            </a:r>
            <a:endParaRPr lang="en-US" sz="1200" dirty="0"/>
          </a:p>
          <a:p>
            <a:pPr algn="ctr" indent="0" marL="0">
              <a:buNone/>
            </a:pPr>
            <a:r>
              <a:rPr lang="en-US" sz="1200" b="1" dirty="0">
                <a:solidFill>
                  <a:srgbClr val="F8FAFC"/>
                </a:solidFill>
              </a:rPr>
              <a:t>service rules, normalisation, AOTD algorithm</a:t>
            </a:r>
            <a:endParaRPr lang="en-US" sz="1200" dirty="0"/>
          </a:p>
        </p:txBody>
      </p:sp>
      <p:sp>
        <p:nvSpPr>
          <p:cNvPr id="7" name="Text 5"/>
          <p:cNvSpPr/>
          <p:nvPr/>
        </p:nvSpPr>
        <p:spPr>
          <a:xfrm>
            <a:off x="1371600" y="3090672"/>
            <a:ext cx="3108960" cy="685800"/>
          </a:xfrm>
          <a:prstGeom prst="trapezoid">
            <a:avLst/>
          </a:prstGeom>
          <a:solidFill>
            <a:srgbClr val="132B3F"/>
          </a:solidFill>
          <a:ln w="15240">
            <a:solidFill>
              <a:srgbClr val="38BDF8"/>
            </a:solidFill>
          </a:ln>
        </p:spPr>
        <p:txBody>
          <a:bodyPr wrap="square" rtlCol="0" anchor="ctr">
            <a:normAutofit/>
          </a:bodyPr>
          <a:lstStyle/>
          <a:p>
            <a:pPr algn="ctr" indent="0" marL="0">
              <a:buNone/>
            </a:pPr>
            <a:r>
              <a:rPr lang="en-US" sz="1200" b="1" dirty="0">
                <a:solidFill>
                  <a:srgbClr val="F8FAFC"/>
                </a:solidFill>
              </a:rPr>
              <a:t>MockMvc integration</a:t>
            </a:r>
            <a:endParaRPr lang="en-US" sz="1200" dirty="0"/>
          </a:p>
          <a:p>
            <a:pPr algn="ctr" indent="0" marL="0">
              <a:buNone/>
            </a:pPr>
            <a:r>
              <a:rPr lang="en-US" sz="1200" b="1" dirty="0">
                <a:solidFill>
                  <a:srgbClr val="F8FAFC"/>
                </a:solidFill>
              </a:rPr>
              <a:t>API, validation, Problem Details, links</a:t>
            </a:r>
            <a:endParaRPr lang="en-US" sz="1200" dirty="0"/>
          </a:p>
        </p:txBody>
      </p:sp>
      <p:sp>
        <p:nvSpPr>
          <p:cNvPr id="8" name="Text 6"/>
          <p:cNvSpPr/>
          <p:nvPr/>
        </p:nvSpPr>
        <p:spPr>
          <a:xfrm>
            <a:off x="1691640" y="2066544"/>
            <a:ext cx="2468880" cy="685800"/>
          </a:xfrm>
          <a:prstGeom prst="trapezoid">
            <a:avLst/>
          </a:prstGeom>
          <a:solidFill>
            <a:srgbClr val="231C35"/>
          </a:solidFill>
          <a:ln w="15240">
            <a:solidFill>
              <a:srgbClr val="A78BFA"/>
            </a:solidFill>
          </a:ln>
        </p:spPr>
        <p:txBody>
          <a:bodyPr wrap="square" rtlCol="0" anchor="ctr">
            <a:normAutofit/>
          </a:bodyPr>
          <a:lstStyle/>
          <a:p>
            <a:pPr algn="ctr" indent="0" marL="0">
              <a:buNone/>
            </a:pPr>
            <a:r>
              <a:rPr lang="en-US" sz="1150" b="1" dirty="0">
                <a:solidFill>
                  <a:srgbClr val="F8FAFC"/>
                </a:solidFill>
              </a:rPr>
              <a:t>PostgreSQL Testcontainers</a:t>
            </a:r>
            <a:endParaRPr lang="en-US" sz="1150" dirty="0"/>
          </a:p>
          <a:p>
            <a:pPr algn="ctr" indent="0" marL="0">
              <a:buNone/>
            </a:pPr>
            <a:r>
              <a:rPr lang="en-US" sz="1150" b="1" dirty="0">
                <a:solidFill>
                  <a:srgbClr val="F8FAFC"/>
                </a:solidFill>
              </a:rPr>
              <a:t>Flyway + constraints + real DB behaviour</a:t>
            </a:r>
            <a:endParaRPr lang="en-US" sz="1150" dirty="0"/>
          </a:p>
        </p:txBody>
      </p:sp>
      <p:sp>
        <p:nvSpPr>
          <p:cNvPr id="9" name="Text 7"/>
          <p:cNvSpPr/>
          <p:nvPr/>
        </p:nvSpPr>
        <p:spPr>
          <a:xfrm>
            <a:off x="5806440" y="1325880"/>
            <a:ext cx="3749040" cy="274320"/>
          </a:xfrm>
          <a:prstGeom prst="rect">
            <a:avLst/>
          </a:prstGeom>
          <a:noFill/>
          <a:ln/>
        </p:spPr>
        <p:txBody>
          <a:bodyPr wrap="square" rtlCol="0" anchor="ctr"/>
          <a:lstStyle/>
          <a:p>
            <a:pPr indent="0" marL="0">
              <a:buNone/>
            </a:pPr>
            <a:r>
              <a:rPr lang="en-US" sz="1500" b="1" dirty="0">
                <a:solidFill>
                  <a:srgbClr val="38BDF8"/>
                </a:solidFill>
              </a:rPr>
              <a:t>Production-readiness signals</a:t>
            </a:r>
            <a:endParaRPr lang="en-US" sz="1500" dirty="0"/>
          </a:p>
        </p:txBody>
      </p:sp>
      <p:sp>
        <p:nvSpPr>
          <p:cNvPr id="10" name="Text 8"/>
          <p:cNvSpPr/>
          <p:nvPr/>
        </p:nvSpPr>
        <p:spPr>
          <a:xfrm>
            <a:off x="5760720" y="1920240"/>
            <a:ext cx="1965960" cy="731520"/>
          </a:xfrm>
          <a:prstGeom prst="roundRect">
            <a:avLst/>
          </a:prstGeom>
          <a:solidFill>
            <a:srgbClr val="172033"/>
          </a:solidFill>
          <a:ln w="12700">
            <a:solidFill>
              <a:srgbClr val="2563E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GitHub Actions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./gradlew clean build</a:t>
            </a:r>
            <a:endParaRPr lang="en-US" sz="1200" dirty="0"/>
          </a:p>
        </p:txBody>
      </p:sp>
      <p:sp>
        <p:nvSpPr>
          <p:cNvPr id="11" name="Text 9"/>
          <p:cNvSpPr/>
          <p:nvPr/>
        </p:nvSpPr>
        <p:spPr>
          <a:xfrm>
            <a:off x="8275320" y="1920240"/>
            <a:ext cx="2148840" cy="731520"/>
          </a:xfrm>
          <a:prstGeom prst="roundRect">
            <a:avLst/>
          </a:prstGeom>
          <a:solidFill>
            <a:srgbClr val="172033"/>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Checkstyle + Dependabot</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lightweight maintenance</a:t>
            </a:r>
            <a:endParaRPr lang="en-US" sz="1200" dirty="0"/>
          </a:p>
        </p:txBody>
      </p:sp>
      <p:sp>
        <p:nvSpPr>
          <p:cNvPr id="12" name="Text 10"/>
          <p:cNvSpPr/>
          <p:nvPr/>
        </p:nvSpPr>
        <p:spPr>
          <a:xfrm>
            <a:off x="5760720" y="3108960"/>
            <a:ext cx="1965960" cy="731520"/>
          </a:xfrm>
          <a:prstGeom prst="roundRect">
            <a:avLst/>
          </a:prstGeom>
          <a:solidFill>
            <a:srgbClr val="142C22"/>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Dockerfile + Compose</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app + PostgreSQL</a:t>
            </a:r>
            <a:endParaRPr lang="en-US" sz="1200" dirty="0"/>
          </a:p>
        </p:txBody>
      </p:sp>
      <p:sp>
        <p:nvSpPr>
          <p:cNvPr id="13" name="Text 11"/>
          <p:cNvSpPr/>
          <p:nvPr/>
        </p:nvSpPr>
        <p:spPr>
          <a:xfrm>
            <a:off x="8275320" y="3108960"/>
            <a:ext cx="2148840" cy="73152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Profiles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local vs prod config</a:t>
            </a:r>
            <a:endParaRPr lang="en-US" sz="1200" dirty="0"/>
          </a:p>
        </p:txBody>
      </p:sp>
      <p:sp>
        <p:nvSpPr>
          <p:cNvPr id="14" name="Text 12"/>
          <p:cNvSpPr/>
          <p:nvPr/>
        </p:nvSpPr>
        <p:spPr>
          <a:xfrm>
            <a:off x="6903720" y="4297680"/>
            <a:ext cx="2423160" cy="731520"/>
          </a:xfrm>
          <a:prstGeom prst="roundRect">
            <a:avLst/>
          </a:prstGeom>
          <a:solidFill>
            <a:srgbClr val="231C35"/>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Actuator + Prometheus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health • readiness • metrics</a:t>
            </a:r>
            <a:endParaRPr lang="en-US" sz="1200" dirty="0"/>
          </a:p>
        </p:txBody>
      </p:sp>
      <p:sp>
        <p:nvSpPr>
          <p:cNvPr id="15" name="Shape 13"/>
          <p:cNvSpPr/>
          <p:nvPr/>
        </p:nvSpPr>
        <p:spPr>
          <a:xfrm>
            <a:off x="7818120" y="2651760"/>
            <a:ext cx="91440" cy="457200"/>
          </a:xfrm>
          <a:prstGeom prst="line">
            <a:avLst/>
          </a:prstGeom>
          <a:noFill/>
          <a:ln w="13970">
            <a:solidFill>
              <a:srgbClr val="334155"/>
            </a:solidFill>
            <a:prstDash val="solid"/>
          </a:ln>
        </p:spPr>
      </p:sp>
      <p:sp>
        <p:nvSpPr>
          <p:cNvPr id="16" name="Shape 14"/>
          <p:cNvSpPr/>
          <p:nvPr/>
        </p:nvSpPr>
        <p:spPr>
          <a:xfrm>
            <a:off x="8641080" y="2651760"/>
            <a:ext cx="-91440" cy="457200"/>
          </a:xfrm>
          <a:prstGeom prst="line">
            <a:avLst/>
          </a:prstGeom>
          <a:noFill/>
          <a:ln w="13970">
            <a:solidFill>
              <a:srgbClr val="334155"/>
            </a:solidFill>
            <a:prstDash val="solid"/>
          </a:ln>
        </p:spPr>
      </p:sp>
      <p:sp>
        <p:nvSpPr>
          <p:cNvPr id="17" name="Shape 15"/>
          <p:cNvSpPr/>
          <p:nvPr/>
        </p:nvSpPr>
        <p:spPr>
          <a:xfrm>
            <a:off x="7818120" y="3840480"/>
            <a:ext cx="594360" cy="411480"/>
          </a:xfrm>
          <a:prstGeom prst="line">
            <a:avLst/>
          </a:prstGeom>
          <a:noFill/>
          <a:ln w="13970">
            <a:solidFill>
              <a:srgbClr val="334155"/>
            </a:solidFill>
            <a:prstDash val="solid"/>
          </a:ln>
        </p:spPr>
      </p:sp>
      <p:sp>
        <p:nvSpPr>
          <p:cNvPr id="18" name="Shape 16"/>
          <p:cNvSpPr/>
          <p:nvPr/>
        </p:nvSpPr>
        <p:spPr>
          <a:xfrm>
            <a:off x="8732520" y="3840480"/>
            <a:ext cx="-228600" cy="411480"/>
          </a:xfrm>
          <a:prstGeom prst="line">
            <a:avLst/>
          </a:prstGeom>
          <a:noFill/>
          <a:ln w="13970">
            <a:solidFill>
              <a:srgbClr val="334155"/>
            </a:solidFill>
            <a:prstDash val="solid"/>
          </a:ln>
        </p:spPr>
      </p:sp>
      <p:sp>
        <p:nvSpPr>
          <p:cNvPr id="19" name="Text 17"/>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20" name="Text 18"/>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07 • PRODUCTION EVOLUTION</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Future production path: evolve only when needed</a:t>
            </a:r>
            <a:endParaRPr lang="en-US" sz="2600" dirty="0"/>
          </a:p>
        </p:txBody>
      </p:sp>
      <p:sp>
        <p:nvSpPr>
          <p:cNvPr id="5" name="Text 3"/>
          <p:cNvSpPr/>
          <p:nvPr/>
        </p:nvSpPr>
        <p:spPr>
          <a:xfrm>
            <a:off x="685800" y="2834640"/>
            <a:ext cx="1828800" cy="685800"/>
          </a:xfrm>
          <a:prstGeom prst="roundRect">
            <a:avLst/>
          </a:prstGeom>
          <a:solidFill>
            <a:srgbClr val="132B3F"/>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Clients / frontend / internal tools</a:t>
            </a:r>
            <a:endParaRPr lang="en-US" sz="1200" dirty="0"/>
          </a:p>
        </p:txBody>
      </p:sp>
      <p:sp>
        <p:nvSpPr>
          <p:cNvPr id="6" name="Shape 4"/>
          <p:cNvSpPr/>
          <p:nvPr/>
        </p:nvSpPr>
        <p:spPr>
          <a:xfrm>
            <a:off x="2578608" y="3182112"/>
            <a:ext cx="502920" cy="0"/>
          </a:xfrm>
          <a:prstGeom prst="line">
            <a:avLst/>
          </a:prstGeom>
          <a:noFill/>
          <a:ln w="20320">
            <a:solidFill>
              <a:srgbClr val="38BDF8"/>
            </a:solidFill>
            <a:prstDash val="solid"/>
            <a:headEnd type="none"/>
            <a:tailEnd type="triangle"/>
          </a:ln>
        </p:spPr>
      </p:sp>
      <p:sp>
        <p:nvSpPr>
          <p:cNvPr id="7" name="Text 5"/>
          <p:cNvSpPr/>
          <p:nvPr/>
        </p:nvSpPr>
        <p:spPr>
          <a:xfrm>
            <a:off x="3246120" y="2834640"/>
            <a:ext cx="1097280" cy="68580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ALB</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future</a:t>
            </a:r>
            <a:endParaRPr lang="en-US" sz="1200" dirty="0"/>
          </a:p>
        </p:txBody>
      </p:sp>
      <p:sp>
        <p:nvSpPr>
          <p:cNvPr id="8" name="Shape 6"/>
          <p:cNvSpPr/>
          <p:nvPr/>
        </p:nvSpPr>
        <p:spPr>
          <a:xfrm>
            <a:off x="4434840" y="3182112"/>
            <a:ext cx="502920" cy="0"/>
          </a:xfrm>
          <a:prstGeom prst="line">
            <a:avLst/>
          </a:prstGeom>
          <a:noFill/>
          <a:ln w="20320">
            <a:solidFill>
              <a:srgbClr val="F59E0B"/>
            </a:solidFill>
            <a:prstDash val="solid"/>
            <a:headEnd type="none"/>
            <a:tailEnd type="triangle"/>
          </a:ln>
        </p:spPr>
      </p:sp>
      <p:sp>
        <p:nvSpPr>
          <p:cNvPr id="9" name="Text 7"/>
          <p:cNvSpPr/>
          <p:nvPr/>
        </p:nvSpPr>
        <p:spPr>
          <a:xfrm>
            <a:off x="5120640" y="2514600"/>
            <a:ext cx="1828800" cy="1325880"/>
          </a:xfrm>
          <a:prstGeom prst="roundRect">
            <a:avLst/>
          </a:prstGeom>
          <a:solidFill>
            <a:srgbClr val="172033"/>
          </a:solidFill>
          <a:ln w="12700">
            <a:solidFill>
              <a:srgbClr val="2563E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ECS/Fargate</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Spring Boot service</a:t>
            </a:r>
            <a:endParaRPr lang="en-US" sz="1200" dirty="0"/>
          </a:p>
        </p:txBody>
      </p:sp>
      <p:sp>
        <p:nvSpPr>
          <p:cNvPr id="10" name="Shape 8"/>
          <p:cNvSpPr/>
          <p:nvPr/>
        </p:nvSpPr>
        <p:spPr>
          <a:xfrm>
            <a:off x="7086600" y="3182112"/>
            <a:ext cx="548640" cy="658368"/>
          </a:xfrm>
          <a:prstGeom prst="line">
            <a:avLst/>
          </a:prstGeom>
          <a:noFill/>
          <a:ln w="20320">
            <a:solidFill>
              <a:srgbClr val="22C55E"/>
            </a:solidFill>
            <a:prstDash val="solid"/>
            <a:headEnd type="none"/>
            <a:tailEnd type="triangle"/>
          </a:ln>
        </p:spPr>
      </p:sp>
      <p:sp>
        <p:nvSpPr>
          <p:cNvPr id="11" name="Text 9"/>
          <p:cNvSpPr/>
          <p:nvPr/>
        </p:nvSpPr>
        <p:spPr>
          <a:xfrm>
            <a:off x="7818120" y="3840480"/>
            <a:ext cx="1645920" cy="713232"/>
          </a:xfrm>
          <a:prstGeom prst="roundRect">
            <a:avLst/>
          </a:prstGeom>
          <a:solidFill>
            <a:srgbClr val="142C22"/>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RDS PostgreSQL</a:t>
            </a:r>
            <a:endParaRPr lang="en-US" sz="1200" dirty="0"/>
          </a:p>
        </p:txBody>
      </p:sp>
      <p:sp>
        <p:nvSpPr>
          <p:cNvPr id="12" name="Shape 10"/>
          <p:cNvSpPr/>
          <p:nvPr/>
        </p:nvSpPr>
        <p:spPr>
          <a:xfrm>
            <a:off x="7086600" y="2971800"/>
            <a:ext cx="548640" cy="-731520"/>
          </a:xfrm>
          <a:prstGeom prst="line">
            <a:avLst/>
          </a:prstGeom>
          <a:noFill/>
          <a:ln w="17780">
            <a:solidFill>
              <a:srgbClr val="A78BFA"/>
            </a:solidFill>
            <a:prstDash val="solid"/>
            <a:headEnd type="none"/>
            <a:tailEnd type="triangle"/>
          </a:ln>
        </p:spPr>
      </p:sp>
      <p:sp>
        <p:nvSpPr>
          <p:cNvPr id="13" name="Text 11"/>
          <p:cNvSpPr/>
          <p:nvPr/>
        </p:nvSpPr>
        <p:spPr>
          <a:xfrm>
            <a:off x="7818120" y="1874520"/>
            <a:ext cx="1645920" cy="713232"/>
          </a:xfrm>
          <a:prstGeom prst="roundRect">
            <a:avLst/>
          </a:prstGeom>
          <a:solidFill>
            <a:srgbClr val="231C35"/>
          </a:solidFill>
          <a:ln w="12700">
            <a:solidFill>
              <a:srgbClr val="A78BFA"/>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Secrets Manager</a:t>
            </a:r>
            <a:endParaRPr lang="en-US" sz="1200" dirty="0"/>
          </a:p>
        </p:txBody>
      </p:sp>
      <p:sp>
        <p:nvSpPr>
          <p:cNvPr id="14" name="Text 12"/>
          <p:cNvSpPr/>
          <p:nvPr/>
        </p:nvSpPr>
        <p:spPr>
          <a:xfrm>
            <a:off x="777240" y="1417320"/>
            <a:ext cx="1737360" cy="685800"/>
          </a:xfrm>
          <a:prstGeom prst="roundRect">
            <a:avLst/>
          </a:prstGeom>
          <a:solidFill>
            <a:srgbClr val="172033"/>
          </a:solidFill>
          <a:ln w="12700">
            <a:solidFill>
              <a:srgbClr val="2563E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GitHub Actions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build + test</a:t>
            </a:r>
            <a:endParaRPr lang="en-US" sz="1200" dirty="0"/>
          </a:p>
        </p:txBody>
      </p:sp>
      <p:sp>
        <p:nvSpPr>
          <p:cNvPr id="15" name="Shape 13"/>
          <p:cNvSpPr/>
          <p:nvPr/>
        </p:nvSpPr>
        <p:spPr>
          <a:xfrm>
            <a:off x="2651760" y="1764792"/>
            <a:ext cx="640080" cy="0"/>
          </a:xfrm>
          <a:prstGeom prst="line">
            <a:avLst/>
          </a:prstGeom>
          <a:noFill/>
          <a:ln w="17780">
            <a:solidFill>
              <a:srgbClr val="2563EB"/>
            </a:solidFill>
            <a:prstDash val="solid"/>
            <a:headEnd type="none"/>
            <a:tailEnd type="triangle"/>
          </a:ln>
        </p:spPr>
      </p:sp>
      <p:sp>
        <p:nvSpPr>
          <p:cNvPr id="16" name="Text 14"/>
          <p:cNvSpPr/>
          <p:nvPr/>
        </p:nvSpPr>
        <p:spPr>
          <a:xfrm>
            <a:off x="3429000" y="1417320"/>
            <a:ext cx="1417320" cy="685800"/>
          </a:xfrm>
          <a:prstGeom prst="roundRect">
            <a:avLst/>
          </a:prstGeom>
          <a:solidFill>
            <a:srgbClr val="172033"/>
          </a:solidFill>
          <a:ln w="12700">
            <a:solidFill>
              <a:srgbClr val="334155"/>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Container image</a:t>
            </a:r>
            <a:endParaRPr lang="en-US" sz="1200" dirty="0"/>
          </a:p>
        </p:txBody>
      </p:sp>
      <p:sp>
        <p:nvSpPr>
          <p:cNvPr id="17" name="Shape 15"/>
          <p:cNvSpPr/>
          <p:nvPr/>
        </p:nvSpPr>
        <p:spPr>
          <a:xfrm>
            <a:off x="4983480" y="1764792"/>
            <a:ext cx="640080" cy="0"/>
          </a:xfrm>
          <a:prstGeom prst="line">
            <a:avLst/>
          </a:prstGeom>
          <a:noFill/>
          <a:ln w="17780">
            <a:solidFill>
              <a:srgbClr val="2563EB"/>
            </a:solidFill>
            <a:prstDash val="solid"/>
            <a:headEnd type="none"/>
            <a:tailEnd type="triangle"/>
          </a:ln>
        </p:spPr>
      </p:sp>
      <p:sp>
        <p:nvSpPr>
          <p:cNvPr id="18" name="Text 16"/>
          <p:cNvSpPr/>
          <p:nvPr/>
        </p:nvSpPr>
        <p:spPr>
          <a:xfrm>
            <a:off x="5760720" y="1417320"/>
            <a:ext cx="1143000" cy="685800"/>
          </a:xfrm>
          <a:prstGeom prst="roundRect">
            <a:avLst/>
          </a:prstGeom>
          <a:solidFill>
            <a:srgbClr val="2A2115"/>
          </a:solidFill>
          <a:ln w="12700">
            <a:solidFill>
              <a:srgbClr val="F59E0B"/>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ECR</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future</a:t>
            </a:r>
            <a:endParaRPr lang="en-US" sz="1200" dirty="0"/>
          </a:p>
        </p:txBody>
      </p:sp>
      <p:sp>
        <p:nvSpPr>
          <p:cNvPr id="19" name="Shape 17"/>
          <p:cNvSpPr/>
          <p:nvPr/>
        </p:nvSpPr>
        <p:spPr>
          <a:xfrm>
            <a:off x="7040880" y="1764792"/>
            <a:ext cx="457200" cy="914400"/>
          </a:xfrm>
          <a:prstGeom prst="line">
            <a:avLst/>
          </a:prstGeom>
          <a:noFill/>
          <a:ln w="17780">
            <a:solidFill>
              <a:srgbClr val="2563EB"/>
            </a:solidFill>
            <a:prstDash val="solid"/>
            <a:headEnd type="none"/>
            <a:tailEnd type="triangle"/>
          </a:ln>
        </p:spPr>
      </p:sp>
      <p:sp>
        <p:nvSpPr>
          <p:cNvPr id="20" name="Text 18"/>
          <p:cNvSpPr/>
          <p:nvPr/>
        </p:nvSpPr>
        <p:spPr>
          <a:xfrm>
            <a:off x="9738360" y="2651760"/>
            <a:ext cx="1645920" cy="868680"/>
          </a:xfrm>
          <a:prstGeom prst="roundRect">
            <a:avLst/>
          </a:prstGeom>
          <a:solidFill>
            <a:srgbClr val="231C35"/>
          </a:solidFill>
          <a:ln w="12700">
            <a:solidFill>
              <a:srgbClr val="38BDF8"/>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Metrics + logs</a:t>
            </a:r>
            <a:endParaRPr lang="en-US" sz="1200" dirty="0"/>
          </a:p>
          <a:p>
            <a:pPr algn="ctr" indent="0" marL="0">
              <a:buNone/>
            </a:pPr>
            <a:r>
              <a:rPr lang="en-US" sz="1200" b="1" dirty="0">
                <a:solidFill>
                  <a:srgbClr val="F8FAFC"/>
                </a:solidFill>
                <a:latin typeface="Aptos" pitchFamily="34" charset="0"/>
                <a:ea typeface="Aptos" pitchFamily="34" charset="-122"/>
                <a:cs typeface="Aptos" pitchFamily="34" charset="-120"/>
              </a:rPr>
              <a:t>alerts + dashboards</a:t>
            </a:r>
            <a:endParaRPr lang="en-US" sz="1200" dirty="0"/>
          </a:p>
        </p:txBody>
      </p:sp>
      <p:sp>
        <p:nvSpPr>
          <p:cNvPr id="21" name="Shape 19"/>
          <p:cNvSpPr/>
          <p:nvPr/>
        </p:nvSpPr>
        <p:spPr>
          <a:xfrm>
            <a:off x="7086600" y="3163824"/>
            <a:ext cx="2514600" cy="-45720"/>
          </a:xfrm>
          <a:prstGeom prst="line">
            <a:avLst/>
          </a:prstGeom>
          <a:noFill/>
          <a:ln w="15240">
            <a:solidFill>
              <a:srgbClr val="38BDF8"/>
            </a:solidFill>
            <a:prstDash val="solid"/>
            <a:headEnd type="none"/>
            <a:tailEnd type="triangle"/>
          </a:ln>
        </p:spPr>
      </p:sp>
      <p:sp>
        <p:nvSpPr>
          <p:cNvPr id="22" name="Text 20"/>
          <p:cNvSpPr/>
          <p:nvPr/>
        </p:nvSpPr>
        <p:spPr>
          <a:xfrm>
            <a:off x="914400" y="5120640"/>
            <a:ext cx="1737360" cy="685800"/>
          </a:xfrm>
          <a:prstGeom prst="roundRect">
            <a:avLst/>
          </a:prstGeom>
          <a:solidFill>
            <a:srgbClr val="1C1917"/>
          </a:solidFill>
          <a:ln w="12700">
            <a:solidFill>
              <a:srgbClr val="F59E0B"/>
            </a:solidFill>
          </a:ln>
        </p:spPr>
        <p:txBody>
          <a:bodyPr wrap="square" lIns="1524" tIns="1524" rIns="1524" bIns="1524" rtlCol="0" anchor="ctr">
            <a:normAutofit/>
          </a:bodyPr>
          <a:lstStyle/>
          <a:p>
            <a:pPr algn="ctr" indent="0" marL="0">
              <a:buNone/>
            </a:pPr>
            <a:r>
              <a:rPr lang="en-US" sz="1100" dirty="0">
                <a:solidFill>
                  <a:srgbClr val="CBD5E1"/>
                </a:solidFill>
                <a:latin typeface="Aptos" pitchFamily="34" charset="0"/>
                <a:ea typeface="Aptos" pitchFamily="34" charset="-122"/>
                <a:cs typeface="Aptos" pitchFamily="34" charset="-120"/>
              </a:rPr>
              <a:t>Future optional</a:t>
            </a:r>
            <a:endParaRPr lang="en-US" sz="1100" dirty="0"/>
          </a:p>
          <a:p>
            <a:pPr algn="ctr" indent="0" marL="0">
              <a:buNone/>
            </a:pPr>
            <a:r>
              <a:rPr lang="en-US" sz="1100" dirty="0">
                <a:solidFill>
                  <a:srgbClr val="CBD5E1"/>
                </a:solidFill>
                <a:latin typeface="Aptos" pitchFamily="34" charset="0"/>
                <a:ea typeface="Aptos" pitchFamily="34" charset="-122"/>
                <a:cs typeface="Aptos" pitchFamily="34" charset="-120"/>
              </a:rPr>
              <a:t>Redis daily cache</a:t>
            </a:r>
            <a:endParaRPr lang="en-US" sz="1100" dirty="0"/>
          </a:p>
        </p:txBody>
      </p:sp>
      <p:sp>
        <p:nvSpPr>
          <p:cNvPr id="23" name="Text 21"/>
          <p:cNvSpPr/>
          <p:nvPr/>
        </p:nvSpPr>
        <p:spPr>
          <a:xfrm>
            <a:off x="3200400" y="5120640"/>
            <a:ext cx="1737360" cy="685800"/>
          </a:xfrm>
          <a:prstGeom prst="roundRect">
            <a:avLst/>
          </a:prstGeom>
          <a:solidFill>
            <a:srgbClr val="1C1917"/>
          </a:solidFill>
          <a:ln w="12700">
            <a:solidFill>
              <a:srgbClr val="F59E0B"/>
            </a:solidFill>
          </a:ln>
        </p:spPr>
        <p:txBody>
          <a:bodyPr wrap="square" lIns="1524" tIns="1524" rIns="1524" bIns="1524" rtlCol="0" anchor="ctr">
            <a:normAutofit/>
          </a:bodyPr>
          <a:lstStyle/>
          <a:p>
            <a:pPr algn="ctr" indent="0" marL="0">
              <a:buNone/>
            </a:pPr>
            <a:r>
              <a:rPr lang="en-US" sz="1100" dirty="0">
                <a:solidFill>
                  <a:srgbClr val="CBD5E1"/>
                </a:solidFill>
                <a:latin typeface="Aptos" pitchFamily="34" charset="0"/>
                <a:ea typeface="Aptos" pitchFamily="34" charset="-122"/>
                <a:cs typeface="Aptos" pitchFamily="34" charset="-120"/>
              </a:rPr>
              <a:t>Future optional</a:t>
            </a:r>
            <a:endParaRPr lang="en-US" sz="1100" dirty="0"/>
          </a:p>
          <a:p>
            <a:pPr algn="ctr" indent="0" marL="0">
              <a:buNone/>
            </a:pPr>
            <a:r>
              <a:rPr lang="en-US" sz="1100" dirty="0">
                <a:solidFill>
                  <a:srgbClr val="CBD5E1"/>
                </a:solidFill>
                <a:latin typeface="Aptos" pitchFamily="34" charset="0"/>
                <a:ea typeface="Aptos" pitchFamily="34" charset="-122"/>
                <a:cs typeface="Aptos" pitchFamily="34" charset="-120"/>
              </a:rPr>
              <a:t>OpenSearch</a:t>
            </a:r>
            <a:endParaRPr lang="en-US" sz="1100" dirty="0"/>
          </a:p>
        </p:txBody>
      </p:sp>
      <p:sp>
        <p:nvSpPr>
          <p:cNvPr id="24" name="Text 22"/>
          <p:cNvSpPr/>
          <p:nvPr/>
        </p:nvSpPr>
        <p:spPr>
          <a:xfrm>
            <a:off x="5486400" y="5120640"/>
            <a:ext cx="1828800" cy="685800"/>
          </a:xfrm>
          <a:prstGeom prst="roundRect">
            <a:avLst/>
          </a:prstGeom>
          <a:solidFill>
            <a:srgbClr val="1C1917"/>
          </a:solidFill>
          <a:ln w="12700">
            <a:solidFill>
              <a:srgbClr val="F59E0B"/>
            </a:solidFill>
          </a:ln>
        </p:spPr>
        <p:txBody>
          <a:bodyPr wrap="square" lIns="1524" tIns="1524" rIns="1524" bIns="1524" rtlCol="0" anchor="ctr">
            <a:normAutofit/>
          </a:bodyPr>
          <a:lstStyle/>
          <a:p>
            <a:pPr algn="ctr" indent="0" marL="0">
              <a:buNone/>
            </a:pPr>
            <a:r>
              <a:rPr lang="en-US" sz="1100" dirty="0">
                <a:solidFill>
                  <a:srgbClr val="CBD5E1"/>
                </a:solidFill>
                <a:latin typeface="Aptos" pitchFamily="34" charset="0"/>
                <a:ea typeface="Aptos" pitchFamily="34" charset="-122"/>
                <a:cs typeface="Aptos" pitchFamily="34" charset="-120"/>
              </a:rPr>
              <a:t>Future optional</a:t>
            </a:r>
            <a:endParaRPr lang="en-US" sz="1100" dirty="0"/>
          </a:p>
          <a:p>
            <a:pPr algn="ctr" indent="0" marL="0">
              <a:buNone/>
            </a:pPr>
            <a:r>
              <a:rPr lang="en-US" sz="1100" dirty="0">
                <a:solidFill>
                  <a:srgbClr val="CBD5E1"/>
                </a:solidFill>
                <a:latin typeface="Aptos" pitchFamily="34" charset="0"/>
                <a:ea typeface="Aptos" pitchFamily="34" charset="-122"/>
                <a:cs typeface="Aptos" pitchFamily="34" charset="-120"/>
              </a:rPr>
              <a:t>SNS/SQS or Kafka</a:t>
            </a:r>
            <a:endParaRPr lang="en-US" sz="1100" dirty="0"/>
          </a:p>
        </p:txBody>
      </p:sp>
      <p:sp>
        <p:nvSpPr>
          <p:cNvPr id="25" name="Shape 23"/>
          <p:cNvSpPr/>
          <p:nvPr/>
        </p:nvSpPr>
        <p:spPr>
          <a:xfrm>
            <a:off x="5349240" y="3886200"/>
            <a:ext cx="-3474720" cy="1051560"/>
          </a:xfrm>
          <a:prstGeom prst="line">
            <a:avLst/>
          </a:prstGeom>
          <a:noFill/>
          <a:ln w="13970">
            <a:solidFill>
              <a:srgbClr val="F59E0B"/>
            </a:solidFill>
            <a:prstDash val="solid"/>
          </a:ln>
        </p:spPr>
      </p:sp>
      <p:sp>
        <p:nvSpPr>
          <p:cNvPr id="26" name="Shape 24"/>
          <p:cNvSpPr/>
          <p:nvPr/>
        </p:nvSpPr>
        <p:spPr>
          <a:xfrm>
            <a:off x="5623560" y="3886200"/>
            <a:ext cx="-1417320" cy="1051560"/>
          </a:xfrm>
          <a:prstGeom prst="line">
            <a:avLst/>
          </a:prstGeom>
          <a:noFill/>
          <a:ln w="13970">
            <a:solidFill>
              <a:srgbClr val="F59E0B"/>
            </a:solidFill>
            <a:prstDash val="solid"/>
          </a:ln>
        </p:spPr>
      </p:sp>
      <p:sp>
        <p:nvSpPr>
          <p:cNvPr id="27" name="Shape 25"/>
          <p:cNvSpPr/>
          <p:nvPr/>
        </p:nvSpPr>
        <p:spPr>
          <a:xfrm>
            <a:off x="5897880" y="3886200"/>
            <a:ext cx="502920" cy="1051560"/>
          </a:xfrm>
          <a:prstGeom prst="line">
            <a:avLst/>
          </a:prstGeom>
          <a:noFill/>
          <a:ln w="13970">
            <a:solidFill>
              <a:srgbClr val="F59E0B"/>
            </a:solidFill>
            <a:prstDash val="solid"/>
          </a:ln>
        </p:spPr>
      </p:sp>
      <p:sp>
        <p:nvSpPr>
          <p:cNvPr id="28" name="Text 26"/>
          <p:cNvSpPr/>
          <p:nvPr/>
        </p:nvSpPr>
        <p:spPr>
          <a:xfrm>
            <a:off x="777240" y="6144768"/>
            <a:ext cx="7680960" cy="274320"/>
          </a:xfrm>
          <a:prstGeom prst="rect">
            <a:avLst/>
          </a:prstGeom>
          <a:noFill/>
          <a:ln/>
        </p:spPr>
        <p:txBody>
          <a:bodyPr wrap="square" rtlCol="0" anchor="ctr"/>
          <a:lstStyle/>
          <a:p>
            <a:pPr indent="0" marL="0">
              <a:buNone/>
            </a:pPr>
            <a:r>
              <a:rPr lang="en-US" sz="1200" i="1" dirty="0">
                <a:solidFill>
                  <a:srgbClr val="F59E0B"/>
                </a:solidFill>
              </a:rPr>
              <a:t>Not implemented in the take-home — shown as a realistic production evolution path.</a:t>
            </a:r>
            <a:endParaRPr lang="en-US" sz="1200" dirty="0"/>
          </a:p>
        </p:txBody>
      </p:sp>
      <p:sp>
        <p:nvSpPr>
          <p:cNvPr id="29" name="Text 27"/>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30" name="Text 28"/>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8BDF8"/>
          </a:solidFill>
          <a:ln w="12700">
            <a:solidFill>
              <a:srgbClr val="38BDF8">
                <a:alpha val="0"/>
              </a:srgbClr>
            </a:solidFill>
            <a:prstDash val="solid"/>
          </a:ln>
        </p:spPr>
      </p:sp>
      <p:sp>
        <p:nvSpPr>
          <p:cNvPr id="3" name="Text 1"/>
          <p:cNvSpPr/>
          <p:nvPr/>
        </p:nvSpPr>
        <p:spPr>
          <a:xfrm>
            <a:off x="594360" y="320040"/>
            <a:ext cx="5760720" cy="228600"/>
          </a:xfrm>
          <a:prstGeom prst="rect">
            <a:avLst/>
          </a:prstGeom>
          <a:noFill/>
          <a:ln/>
        </p:spPr>
        <p:txBody>
          <a:bodyPr wrap="square" rtlCol="0" anchor="ctr"/>
          <a:lstStyle/>
          <a:p>
            <a:pPr indent="0" marL="0">
              <a:buNone/>
            </a:pPr>
            <a:r>
              <a:rPr lang="en-US" sz="900" b="1" dirty="0">
                <a:solidFill>
                  <a:srgbClr val="38BDF8"/>
                </a:solidFill>
                <a:latin typeface="Aptos" pitchFamily="34" charset="0"/>
                <a:ea typeface="Aptos" pitchFamily="34" charset="-122"/>
                <a:cs typeface="Aptos" pitchFamily="34" charset="-120"/>
              </a:rPr>
              <a:t>08 • CLOSE</a:t>
            </a:r>
            <a:endParaRPr lang="en-US" sz="900" dirty="0"/>
          </a:p>
        </p:txBody>
      </p:sp>
      <p:sp>
        <p:nvSpPr>
          <p:cNvPr id="4" name="Text 2"/>
          <p:cNvSpPr/>
          <p:nvPr/>
        </p:nvSpPr>
        <p:spPr>
          <a:xfrm>
            <a:off x="594360" y="603504"/>
            <a:ext cx="10881360" cy="502920"/>
          </a:xfrm>
          <a:prstGeom prst="rect">
            <a:avLst/>
          </a:prstGeom>
          <a:noFill/>
          <a:ln/>
        </p:spPr>
        <p:txBody>
          <a:bodyPr wrap="square" rtlCol="0" anchor="ctr">
            <a:normAutofit/>
          </a:bodyP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How I would present it in 15 minutes</a:t>
            </a:r>
            <a:endParaRPr lang="en-US" sz="2600" dirty="0"/>
          </a:p>
        </p:txBody>
      </p:sp>
      <p:sp>
        <p:nvSpPr>
          <p:cNvPr id="5" name="Shape 3"/>
          <p:cNvSpPr/>
          <p:nvPr/>
        </p:nvSpPr>
        <p:spPr>
          <a:xfrm>
            <a:off x="914400" y="2057400"/>
            <a:ext cx="9875520" cy="0"/>
          </a:xfrm>
          <a:prstGeom prst="line">
            <a:avLst/>
          </a:prstGeom>
          <a:noFill/>
          <a:ln w="25400">
            <a:solidFill>
              <a:srgbClr val="334155"/>
            </a:solidFill>
            <a:prstDash val="solid"/>
          </a:ln>
        </p:spPr>
      </p:sp>
      <p:sp>
        <p:nvSpPr>
          <p:cNvPr id="6" name="Text 4"/>
          <p:cNvSpPr/>
          <p:nvPr/>
        </p:nvSpPr>
        <p:spPr>
          <a:xfrm>
            <a:off x="914400" y="1600200"/>
            <a:ext cx="1234440" cy="868680"/>
          </a:xfrm>
          <a:prstGeom prst="roundRect">
            <a:avLst/>
          </a:prstGeom>
          <a:solidFill>
            <a:srgbClr val="132B3F"/>
          </a:solidFill>
          <a:ln w="12700">
            <a:solidFill>
              <a:srgbClr val="38BDF8"/>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1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Problem</a:t>
            </a:r>
            <a:endParaRPr lang="en-US" sz="1100" dirty="0"/>
          </a:p>
        </p:txBody>
      </p:sp>
      <p:sp>
        <p:nvSpPr>
          <p:cNvPr id="7" name="Text 5"/>
          <p:cNvSpPr/>
          <p:nvPr/>
        </p:nvSpPr>
        <p:spPr>
          <a:xfrm>
            <a:off x="2514600" y="1600200"/>
            <a:ext cx="1234440" cy="868680"/>
          </a:xfrm>
          <a:prstGeom prst="roundRect">
            <a:avLst/>
          </a:prstGeom>
          <a:solidFill>
            <a:srgbClr val="172033"/>
          </a:solidFill>
          <a:ln w="12700">
            <a:solidFill>
              <a:srgbClr val="22C55E"/>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2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Domain</a:t>
            </a:r>
            <a:endParaRPr lang="en-US" sz="1100" dirty="0"/>
          </a:p>
        </p:txBody>
      </p:sp>
      <p:sp>
        <p:nvSpPr>
          <p:cNvPr id="8" name="Text 6"/>
          <p:cNvSpPr/>
          <p:nvPr/>
        </p:nvSpPr>
        <p:spPr>
          <a:xfrm>
            <a:off x="4114800" y="1600200"/>
            <a:ext cx="1234440" cy="868680"/>
          </a:xfrm>
          <a:prstGeom prst="roundRect">
            <a:avLst/>
          </a:prstGeom>
          <a:solidFill>
            <a:srgbClr val="132B3F"/>
          </a:solidFill>
          <a:ln w="12700">
            <a:solidFill>
              <a:srgbClr val="F59E0B"/>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3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API</a:t>
            </a:r>
            <a:endParaRPr lang="en-US" sz="1100" dirty="0"/>
          </a:p>
        </p:txBody>
      </p:sp>
      <p:sp>
        <p:nvSpPr>
          <p:cNvPr id="9" name="Text 7"/>
          <p:cNvSpPr/>
          <p:nvPr/>
        </p:nvSpPr>
        <p:spPr>
          <a:xfrm>
            <a:off x="5715000" y="1600200"/>
            <a:ext cx="1234440" cy="868680"/>
          </a:xfrm>
          <a:prstGeom prst="roundRect">
            <a:avLst/>
          </a:prstGeom>
          <a:solidFill>
            <a:srgbClr val="172033"/>
          </a:solidFill>
          <a:ln w="12700">
            <a:solidFill>
              <a:srgbClr val="A78BFA"/>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3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Architecture</a:t>
            </a:r>
            <a:endParaRPr lang="en-US" sz="1100" dirty="0"/>
          </a:p>
        </p:txBody>
      </p:sp>
      <p:sp>
        <p:nvSpPr>
          <p:cNvPr id="10" name="Text 8"/>
          <p:cNvSpPr/>
          <p:nvPr/>
        </p:nvSpPr>
        <p:spPr>
          <a:xfrm>
            <a:off x="7315200" y="1600200"/>
            <a:ext cx="1234440" cy="868680"/>
          </a:xfrm>
          <a:prstGeom prst="roundRect">
            <a:avLst/>
          </a:prstGeom>
          <a:solidFill>
            <a:srgbClr val="132B3F"/>
          </a:solidFill>
          <a:ln w="12700">
            <a:solidFill>
              <a:srgbClr val="2563EB"/>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3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Quality</a:t>
            </a:r>
            <a:endParaRPr lang="en-US" sz="1100" dirty="0"/>
          </a:p>
        </p:txBody>
      </p:sp>
      <p:sp>
        <p:nvSpPr>
          <p:cNvPr id="11" name="Text 9"/>
          <p:cNvSpPr/>
          <p:nvPr/>
        </p:nvSpPr>
        <p:spPr>
          <a:xfrm>
            <a:off x="8915400" y="1600200"/>
            <a:ext cx="1234440" cy="868680"/>
          </a:xfrm>
          <a:prstGeom prst="roundRect">
            <a:avLst/>
          </a:prstGeom>
          <a:solidFill>
            <a:srgbClr val="172033"/>
          </a:solidFill>
          <a:ln w="12700">
            <a:solidFill>
              <a:srgbClr val="EF4444"/>
            </a:solidFill>
          </a:ln>
        </p:spPr>
        <p:txBody>
          <a:bodyPr wrap="square" lIns="1524" tIns="1524" rIns="1524" bIns="1524" rtlCol="0" anchor="ctr">
            <a:normAutofit/>
          </a:bodyPr>
          <a:lstStyle/>
          <a:p>
            <a:pPr algn="ctr" indent="0" marL="0">
              <a:buNone/>
            </a:pPr>
            <a:r>
              <a:rPr lang="en-US" sz="1100" b="1" dirty="0">
                <a:solidFill>
                  <a:srgbClr val="F8FAFC"/>
                </a:solidFill>
                <a:latin typeface="Aptos" pitchFamily="34" charset="0"/>
                <a:ea typeface="Aptos" pitchFamily="34" charset="-122"/>
                <a:cs typeface="Aptos" pitchFamily="34" charset="-120"/>
              </a:rPr>
              <a:t>3 min</a:t>
            </a:r>
            <a:endParaRPr lang="en-US" sz="1100" dirty="0"/>
          </a:p>
          <a:p>
            <a:pPr algn="ctr" indent="0" marL="0">
              <a:buNone/>
            </a:pPr>
            <a:r>
              <a:rPr lang="en-US" sz="1100" b="1" dirty="0">
                <a:solidFill>
                  <a:srgbClr val="F8FAFC"/>
                </a:solidFill>
                <a:latin typeface="Aptos" pitchFamily="34" charset="0"/>
                <a:ea typeface="Aptos" pitchFamily="34" charset="-122"/>
                <a:cs typeface="Aptos" pitchFamily="34" charset="-120"/>
              </a:rPr>
              <a:t>Trade-offs + next</a:t>
            </a:r>
            <a:endParaRPr lang="en-US" sz="1100" dirty="0"/>
          </a:p>
        </p:txBody>
      </p:sp>
      <p:sp>
        <p:nvSpPr>
          <p:cNvPr id="12" name="Text 10"/>
          <p:cNvSpPr/>
          <p:nvPr/>
        </p:nvSpPr>
        <p:spPr>
          <a:xfrm>
            <a:off x="868680" y="3246120"/>
            <a:ext cx="3383280" cy="274320"/>
          </a:xfrm>
          <a:prstGeom prst="rect">
            <a:avLst/>
          </a:prstGeom>
          <a:noFill/>
          <a:ln/>
        </p:spPr>
        <p:txBody>
          <a:bodyPr wrap="square" rtlCol="0" anchor="ctr"/>
          <a:lstStyle/>
          <a:p>
            <a:pPr indent="0" marL="0">
              <a:buNone/>
            </a:pPr>
            <a:r>
              <a:rPr lang="en-US" sz="1500" b="1" dirty="0">
                <a:solidFill>
                  <a:srgbClr val="38BDF8"/>
                </a:solidFill>
              </a:rPr>
              <a:t>The story I want to land</a:t>
            </a:r>
            <a:endParaRPr lang="en-US" sz="1500" dirty="0"/>
          </a:p>
        </p:txBody>
      </p:sp>
      <p:sp>
        <p:nvSpPr>
          <p:cNvPr id="13" name="Text 11"/>
          <p:cNvSpPr/>
          <p:nvPr/>
        </p:nvSpPr>
        <p:spPr>
          <a:xfrm>
            <a:off x="868680" y="3657600"/>
            <a:ext cx="9875520" cy="640080"/>
          </a:xfrm>
          <a:prstGeom prst="rect">
            <a:avLst/>
          </a:prstGeom>
          <a:noFill/>
          <a:ln/>
        </p:spPr>
        <p:txBody>
          <a:bodyPr wrap="square" rtlCol="0" anchor="ctr">
            <a:normAutofit/>
          </a:bodyPr>
          <a:lstStyle/>
          <a:p>
            <a:pPr indent="0" marL="0">
              <a:buNone/>
            </a:pPr>
            <a:r>
              <a:rPr lang="en-US" sz="1700" b="1" dirty="0">
                <a:solidFill>
                  <a:srgbClr val="F8FAFC"/>
                </a:solidFill>
              </a:rPr>
              <a:t>I understood the product shape, modelled the domain around stable identity, kept the architecture intentionally simple, and added enough production-readiness to make the service reviewable, runnable and testable.</a:t>
            </a:r>
            <a:endParaRPr lang="en-US" sz="1700" dirty="0"/>
          </a:p>
        </p:txBody>
      </p:sp>
      <p:sp>
        <p:nvSpPr>
          <p:cNvPr id="14" name="Text 12"/>
          <p:cNvSpPr/>
          <p:nvPr/>
        </p:nvSpPr>
        <p:spPr>
          <a:xfrm>
            <a:off x="868680" y="4754880"/>
            <a:ext cx="9875520" cy="502920"/>
          </a:xfrm>
          <a:prstGeom prst="rect">
            <a:avLst/>
          </a:prstGeom>
          <a:noFill/>
          <a:ln/>
        </p:spPr>
        <p:txBody>
          <a:bodyPr wrap="square" rtlCol="0" anchor="ctr">
            <a:normAutofit/>
          </a:bodyPr>
          <a:lstStyle/>
          <a:p>
            <a:pPr indent="0" marL="0">
              <a:buNone/>
            </a:pPr>
            <a:r>
              <a:rPr lang="en-US" sz="1400" dirty="0">
                <a:solidFill>
                  <a:srgbClr val="CBD5E1"/>
                </a:solidFill>
              </a:rPr>
              <a:t>Next steps I would discuss: auth for writes, artist/track discovery endpoints, cached or precomputed Artist of the Day, search infrastructure when needed, and production deployment/observability maturity.</a:t>
            </a:r>
            <a:endParaRPr lang="en-US" sz="1400" dirty="0"/>
          </a:p>
        </p:txBody>
      </p:sp>
      <p:sp>
        <p:nvSpPr>
          <p:cNvPr id="15" name="Text 13"/>
          <p:cNvSpPr/>
          <p:nvPr/>
        </p:nvSpPr>
        <p:spPr>
          <a:xfrm>
            <a:off x="2331720" y="5806440"/>
            <a:ext cx="7315200" cy="438912"/>
          </a:xfrm>
          <a:prstGeom prst="roundRect">
            <a:avLst/>
          </a:prstGeom>
          <a:solidFill>
            <a:srgbClr val="142C22"/>
          </a:solidFill>
          <a:ln w="12700">
            <a:solidFill>
              <a:srgbClr val="22C55E"/>
            </a:solidFill>
          </a:ln>
        </p:spPr>
        <p:txBody>
          <a:bodyPr wrap="square" lIns="1524" tIns="1524" rIns="1524" bIns="1524" rtlCol="0" anchor="ctr">
            <a:normAutofit/>
          </a:bodyPr>
          <a:lstStyle/>
          <a:p>
            <a:pPr algn="ctr" indent="0" marL="0">
              <a:buNone/>
            </a:pPr>
            <a:r>
              <a:rPr lang="en-US" sz="1200" b="1" dirty="0">
                <a:solidFill>
                  <a:srgbClr val="F8FAFC"/>
                </a:solidFill>
                <a:latin typeface="Aptos" pitchFamily="34" charset="0"/>
                <a:ea typeface="Aptos" pitchFamily="34" charset="-122"/>
                <a:cs typeface="Aptos" pitchFamily="34" charset="-120"/>
              </a:rPr>
              <a:t>Submitted repo includes README, decision log, production-readiness notes, diagrams and presentation outline.</a:t>
            </a:r>
            <a:endParaRPr lang="en-US" sz="1200" dirty="0"/>
          </a:p>
        </p:txBody>
      </p:sp>
      <p:sp>
        <p:nvSpPr>
          <p:cNvPr id="16" name="Text 14"/>
          <p:cNvSpPr/>
          <p:nvPr/>
        </p:nvSpPr>
        <p:spPr>
          <a:xfrm>
            <a:off x="594360" y="6510528"/>
            <a:ext cx="8961120" cy="219456"/>
          </a:xfrm>
          <a:prstGeom prst="rect">
            <a:avLst/>
          </a:prstGeom>
          <a:noFill/>
          <a:ln/>
        </p:spPr>
        <p:txBody>
          <a:bodyPr wrap="square" rtlCol="0" anchor="ctr"/>
          <a:lstStyle/>
          <a:p>
            <a:pPr indent="0" marL="0">
              <a:buNone/>
            </a:pPr>
            <a:r>
              <a:rPr lang="en-US" sz="850" dirty="0">
                <a:solidFill>
                  <a:srgbClr val="64748B"/>
                </a:solidFill>
                <a:latin typeface="Aptos" pitchFamily="34" charset="0"/>
                <a:ea typeface="Aptos" pitchFamily="34" charset="-122"/>
                <a:cs typeface="Aptos" pitchFamily="34" charset="-120"/>
              </a:rPr>
              <a:t>Music Metadata Service • Technical walkthrough</a:t>
            </a:r>
            <a:endParaRPr lang="en-US" sz="850" dirty="0"/>
          </a:p>
        </p:txBody>
      </p:sp>
      <p:sp>
        <p:nvSpPr>
          <p:cNvPr id="17" name="Text 15"/>
          <p:cNvSpPr/>
          <p:nvPr/>
        </p:nvSpPr>
        <p:spPr>
          <a:xfrm>
            <a:off x="11201400" y="6473952"/>
            <a:ext cx="411480" cy="228600"/>
          </a:xfrm>
          <a:prstGeom prst="rect">
            <a:avLst/>
          </a:prstGeom>
          <a:noFill/>
          <a:ln/>
        </p:spPr>
        <p:txBody>
          <a:bodyPr wrap="square" rtlCol="0" anchor="ctr"/>
          <a:lstStyle/>
          <a:p>
            <a:pPr algn="r" indent="0" marL="0">
              <a:buNone/>
            </a:pPr>
            <a:r>
              <a:rPr lang="en-US" sz="850" dirty="0">
                <a:solidFill>
                  <a:srgbClr val="64748B"/>
                </a:solidFill>
              </a:rPr>
              <a:t>09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Take-home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Metadata Service — Technical Walkthrough</dc:title>
  <dc:subject>Music Metadata Service architecture and implementation walkthrough</dc:subject>
  <dc:creator>Jad El Omeiri</dc:creator>
  <cp:lastModifiedBy>Jad El Omeiri</cp:lastModifiedBy>
  <cp:revision>1</cp:revision>
  <dcterms:created xsi:type="dcterms:W3CDTF">2026-05-07T13:30:49Z</dcterms:created>
  <dcterms:modified xsi:type="dcterms:W3CDTF">2026-05-07T13:30:49Z</dcterms:modified>
</cp:coreProperties>
</file>